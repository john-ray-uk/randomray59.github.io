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41"/>
  </p:notesMasterIdLst>
  <p:sldIdLst>
    <p:sldId id="256" r:id="rId2"/>
    <p:sldId id="268" r:id="rId3"/>
    <p:sldId id="257" r:id="rId4"/>
    <p:sldId id="270" r:id="rId5"/>
    <p:sldId id="273" r:id="rId6"/>
    <p:sldId id="271" r:id="rId7"/>
    <p:sldId id="277" r:id="rId8"/>
    <p:sldId id="258" r:id="rId9"/>
    <p:sldId id="278" r:id="rId10"/>
    <p:sldId id="279" r:id="rId11"/>
    <p:sldId id="283" r:id="rId12"/>
    <p:sldId id="284" r:id="rId13"/>
    <p:sldId id="285" r:id="rId14"/>
    <p:sldId id="288" r:id="rId15"/>
    <p:sldId id="286" r:id="rId16"/>
    <p:sldId id="287" r:id="rId17"/>
    <p:sldId id="289" r:id="rId18"/>
    <p:sldId id="274" r:id="rId19"/>
    <p:sldId id="292" r:id="rId20"/>
    <p:sldId id="293" r:id="rId21"/>
    <p:sldId id="280" r:id="rId22"/>
    <p:sldId id="303" r:id="rId23"/>
    <p:sldId id="306" r:id="rId24"/>
    <p:sldId id="304" r:id="rId25"/>
    <p:sldId id="297" r:id="rId26"/>
    <p:sldId id="298" r:id="rId27"/>
    <p:sldId id="307" r:id="rId28"/>
    <p:sldId id="308" r:id="rId29"/>
    <p:sldId id="309" r:id="rId30"/>
    <p:sldId id="310" r:id="rId31"/>
    <p:sldId id="300" r:id="rId32"/>
    <p:sldId id="299" r:id="rId33"/>
    <p:sldId id="296" r:id="rId34"/>
    <p:sldId id="312" r:id="rId35"/>
    <p:sldId id="313" r:id="rId36"/>
    <p:sldId id="314" r:id="rId37"/>
    <p:sldId id="290" r:id="rId38"/>
    <p:sldId id="266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9933"/>
    <a:srgbClr val="008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A86BA-301B-426B-805E-B2222639DAD3}" type="datetimeFigureOut">
              <a:rPr lang="en-GB" smtClean="0"/>
              <a:t>31/05/2026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10CF0-1AE3-40BF-B979-C3C25C94CB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99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10CF0-1AE3-40BF-B979-C3C25C94CBF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868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10CF0-1AE3-40BF-B979-C3C25C94CBF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181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0EEA-5EFA-8CB4-0753-DD3FE1CA4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AC8CE-2841-0F30-9B7F-016A47CEF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62CEF-9BC0-A8B4-AF01-D2C2F7E7C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7475A-0399-329B-2C52-B562D775E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10CF0-1AE3-40BF-B979-C3C25C94CBFA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583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89A7-1866-7935-C89F-221FB054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E24C4-9E83-E4FF-9A1D-DADED38F6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BA23F-4641-6E3F-9B24-D59DAC020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3DC42-3659-CDA8-9088-B352937F2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10CF0-1AE3-40BF-B979-C3C25C94CBFA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808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3FB77-B83E-5D7B-869B-782F70CB1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F854C-A9A2-8330-41DD-7104D015A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1F0FF-063A-C6A6-026E-B4D6FDA6F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edge states correspond to the single-cell connections of the outermost sites in the system (and thus only emerge if ordinary boundary conditions are followed).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E0217-0096-57C0-70EC-543EC792F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10CF0-1AE3-40BF-B979-C3C25C94CBFA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742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E770-44AE-47D5-B4B1-71BEC9A9D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63960"/>
            <a:ext cx="9456049" cy="3594112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A91C7-81A9-46F3-B0F4-D9AB88085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667581"/>
            <a:ext cx="9456049" cy="1197387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648C8-9681-4994-B52A-1A8BC791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102693"/>
            <a:ext cx="2743200" cy="365125"/>
          </a:xfrm>
        </p:spPr>
        <p:txBody>
          <a:bodyPr/>
          <a:lstStyle/>
          <a:p>
            <a:fld id="{AE3425CA-4B9D-4420-BB9E-C250DB30E421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7F203-CB10-488B-82DC-9D0571A5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B2E9B-C8B7-4716-9D05-265A0424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D8031-DD67-43C6-94A0-646636C95560}"/>
              </a:ext>
            </a:extLst>
          </p:cNvPr>
          <p:cNvCxnSpPr>
            <a:cxnSpLocks/>
          </p:cNvCxnSpPr>
          <p:nvPr/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40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2B9A-9384-46B2-8B4F-B9C2035C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3CF4-CD0B-4F3C-A1CE-1BA3EFDEE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DE659-17B0-4F70-8F1C-93BF4DB64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1E1E-C50D-4FD4-8B1E-ECD78340D9AB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B0750-AB4E-4FCF-9B52-BC954760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66B99-C716-4464-B695-623F4C5A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52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233A-AD59-4FB1-A1CA-AABFAE040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52782"/>
            <a:ext cx="9538428" cy="371441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56964-650B-4E87-9541-0E659DEC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9" y="4672584"/>
            <a:ext cx="9538428" cy="1143802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1BB50-DF4A-47B5-A3AD-18712A3A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3AFB-9E54-459E-8C6D-0913AC3BA5D7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59B3-D1B8-4A51-AD6E-868C5BF6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A779-6272-4A15-A566-20C4E9A6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B86E8F-91EA-4626-BCA8-3B4973C7C9D6}"/>
              </a:ext>
            </a:extLst>
          </p:cNvPr>
          <p:cNvCxnSpPr>
            <a:cxnSpLocks/>
          </p:cNvCxnSpPr>
          <p:nvPr/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56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52A00-5BBD-436C-BB6D-CE650FC4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3"/>
            <a:ext cx="9683871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B3E2E-F3C4-4CDD-9138-86AE7A1B5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8" y="2108362"/>
            <a:ext cx="4507926" cy="3721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5CD01-B639-46B6-B53D-18FE1E39A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9171" y="2108362"/>
            <a:ext cx="4825948" cy="3721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E34C3-86AC-48F9-92A4-F17BFAF9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44B6-0CA7-46BA-A00B-1E68E5C3ED0C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D6A29-C51F-4654-82AD-04056FA6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1EEB6-57E6-40E7-9702-1D5999B5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29C81A-4806-44FF-99D8-13A65B2D066F}"/>
              </a:ext>
            </a:extLst>
          </p:cNvPr>
          <p:cNvCxnSpPr>
            <a:cxnSpLocks/>
          </p:cNvCxnSpPr>
          <p:nvPr/>
        </p:nvCxnSpPr>
        <p:spPr>
          <a:xfrm>
            <a:off x="375523" y="2004012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8DDCF9-5353-4B5F-8565-8C27F795A4BF}"/>
              </a:ext>
            </a:extLst>
          </p:cNvPr>
          <p:cNvCxnSpPr>
            <a:cxnSpLocks/>
          </p:cNvCxnSpPr>
          <p:nvPr/>
        </p:nvCxnSpPr>
        <p:spPr>
          <a:xfrm>
            <a:off x="5563342" y="2004012"/>
            <a:ext cx="0" cy="4048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64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D1A9-BF08-4C6D-805E-244B234E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7784"/>
            <a:ext cx="94395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0C1D8-0907-4FDB-BFAD-36E14AF98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2114185"/>
            <a:ext cx="4438887" cy="693761"/>
          </a:xfr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4441-5FC3-4F86-8ADE-ED90424DB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8" y="2900451"/>
            <a:ext cx="4438887" cy="3028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EB34D-DB36-47E0-AE2C-FBEBA2720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95090" y="2114185"/>
            <a:ext cx="4485728" cy="693761"/>
          </a:xfr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56219-D498-410D-8F2C-03045AE48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95090" y="2900451"/>
            <a:ext cx="4485730" cy="3028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8DC9AD-F6B8-44D0-8169-84553C1F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F549-537C-41EC-B9CC-5B6A9AC2A6A7}" type="datetime1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985ED-7382-4F00-845D-4F27841B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2CC25-9EC7-4706-9BD4-5E20C4B33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BC7D26-1B30-46B8-8221-09886FA3D030}"/>
              </a:ext>
            </a:extLst>
          </p:cNvPr>
          <p:cNvCxnSpPr>
            <a:cxnSpLocks/>
          </p:cNvCxnSpPr>
          <p:nvPr/>
        </p:nvCxnSpPr>
        <p:spPr>
          <a:xfrm>
            <a:off x="375523" y="2004012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186A75-E140-4995-A8BB-89B5ACE678D2}"/>
              </a:ext>
            </a:extLst>
          </p:cNvPr>
          <p:cNvCxnSpPr>
            <a:cxnSpLocks/>
          </p:cNvCxnSpPr>
          <p:nvPr/>
        </p:nvCxnSpPr>
        <p:spPr>
          <a:xfrm>
            <a:off x="5563342" y="2004012"/>
            <a:ext cx="0" cy="4048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19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21C2-B85F-435F-8DF3-C714A547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9FE38-24D5-4D5F-A92E-E4F8B23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8D56-3D0E-48B8-8218-1F3A06A96C62}" type="datetime1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9DF69-BE29-4038-9744-17BFC57B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9496F-64EC-46E7-97F0-BCB7E79F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65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F19E0-8FE3-45E8-A227-D74EEF1A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309E-27D4-401F-A74A-DEA16C7B51DC}" type="datetime1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B1926-56F3-40BC-A03F-62B96941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FE2B6-07A4-4AA0-9BCE-204E13DA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4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266A-CB24-44C5-B2E8-01142084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9283"/>
            <a:ext cx="4603963" cy="2572489"/>
          </a:xfrm>
        </p:spPr>
        <p:txBody>
          <a:bodyPr anchor="ctr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9DBD1-7133-47A5-A771-2CEA1853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0796" y="549283"/>
            <a:ext cx="4455517" cy="53197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A729F-B24D-424E-B067-003B0601F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3296498"/>
            <a:ext cx="4603963" cy="2572489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A7323-5497-426C-9DD9-3CF69E88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A2B81-2BC3-42D7-B67D-05C685AA80AD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D7667-4D25-40AF-9D6D-FCB2C21E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50918-EDF8-47A5-BEA8-AC9A7A15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8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C5D2B-FAFB-4BC9-A917-610FDCD0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52782"/>
            <a:ext cx="4608576" cy="2569464"/>
          </a:xfr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6A694-5302-42BE-8A7A-6007C10F8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25952" y="552783"/>
            <a:ext cx="4663440" cy="530826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481C-81D6-4329-8203-70B3FCC3F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9" y="3300984"/>
            <a:ext cx="4608576" cy="2569464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D6C12-26C4-4DF7-B013-56D0849A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B8F2B-E487-4905-B553-FB649F2B6F23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2F307-FB97-40EC-8517-E6F351B3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1B397-305A-42B7-A763-829634B9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59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C3B3-C67F-4C48-A663-EF010429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C4B3F-B3CB-4CF0-AEC8-1893A6A27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6D005-2B71-4325-A646-A2278C3A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B861-3779-4E37-8DF0-E9EB3EA96210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56B01-AE16-42EF-B970-5CAF0C89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F9BE2-24F4-4F83-8E64-4307C979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75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601120-856A-4F01-B7C1-D87A1E5F8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74324" y="552782"/>
            <a:ext cx="2620891" cy="52947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62358-C84C-4947-B826-FF738422E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52782"/>
            <a:ext cx="6803155" cy="529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1139-AA1A-46DB-B793-17FB8E6E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38388-E864-4553-9937-AE9FC5E50CFC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E06F6-0FE2-40FB-BFEE-010C2229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7B1B-13A1-41BA-B924-FD11450C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33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BD48A-4D17-4225-AC4D-67B4C686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A2B-77AF-4E51-B0C1-0D361EF81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2096199"/>
            <a:ext cx="9489000" cy="374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C2F5-57CA-4152-A766-8F877538F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1248" y="610269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kern="1200" cap="all" spc="3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F7C3A7-D6F6-4D38-A7C3-B72967BB81A6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25FB5-D02B-4BB9-8B8B-D1A11CFE8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234260" y="24276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4AEDE-F25F-43E6-A2C4-7FFF41074990}"/>
              </a:ext>
            </a:extLst>
          </p:cNvPr>
          <p:cNvSpPr/>
          <p:nvPr userDrawn="1"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825BC6-56A8-46DE-8037-A9A577624B0D}"/>
              </a:ext>
            </a:extLst>
          </p:cNvPr>
          <p:cNvCxnSpPr>
            <a:cxnSpLocks/>
          </p:cNvCxnSpPr>
          <p:nvPr/>
        </p:nvCxnSpPr>
        <p:spPr>
          <a:xfrm>
            <a:off x="373060" y="6047437"/>
            <a:ext cx="1145119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438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0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33.png"/><Relationship Id="rId3" Type="http://schemas.openxmlformats.org/officeDocument/2006/relationships/image" Target="../media/image1.jpe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5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7.png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10.png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10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lack">
            <a:extLst>
              <a:ext uri="{FF2B5EF4-FFF2-40B4-BE49-F238E27FC236}">
                <a16:creationId xmlns:a16="http://schemas.microsoft.com/office/drawing/2014/main" id="{E99D7AAF-4170-4D21-AB6C-605F6F10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C7B0D2-EE64-D63F-B639-22D291A8A9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3" name="Main Frame">
            <a:extLst>
              <a:ext uri="{FF2B5EF4-FFF2-40B4-BE49-F238E27FC236}">
                <a16:creationId xmlns:a16="http://schemas.microsoft.com/office/drawing/2014/main" id="{9502469D-C562-48E3-ABA2-3CFA55C5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BBC54-6A23-BD5A-9601-A167B947D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203" y="1717482"/>
            <a:ext cx="8170037" cy="2501296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  <a:t>Developing a desktop application to optimise</a:t>
            </a:r>
            <a:b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  <a:t>neural networks</a:t>
            </a:r>
            <a:endParaRPr lang="en-GB" dirty="0">
              <a:solidFill>
                <a:srgbClr val="FFFFFF"/>
              </a:solidFill>
              <a:latin typeface="Aptos Black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50AF0-6E9A-352B-A5A2-EC1750D4D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47293" y="4256212"/>
            <a:ext cx="4257855" cy="1456299"/>
          </a:xfrm>
        </p:spPr>
        <p:txBody>
          <a:bodyPr anchor="t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John Ray</a:t>
            </a:r>
          </a:p>
          <a:p>
            <a:pPr algn="ctr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Prof. Edward McCann</a:t>
            </a:r>
          </a:p>
        </p:txBody>
      </p:sp>
      <p:cxnSp>
        <p:nvCxnSpPr>
          <p:cNvPr id="15" name="Main Horizontal Connector">
            <a:extLst>
              <a:ext uri="{FF2B5EF4-FFF2-40B4-BE49-F238E27FC236}">
                <a16:creationId xmlns:a16="http://schemas.microsoft.com/office/drawing/2014/main" id="{4D594499-F983-4364-8ABC-5BCDC2E90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Main Vertical Connector">
            <a:extLst>
              <a:ext uri="{FF2B5EF4-FFF2-40B4-BE49-F238E27FC236}">
                <a16:creationId xmlns:a16="http://schemas.microsoft.com/office/drawing/2014/main" id="{6D4C177C-581F-4CC8-A686-0B6D25DC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143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60FA-442A-9439-4CD6-A381B3EA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31ABB5-314E-A8ED-EEA3-C3F038A286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B11E79-4240-9C6F-7644-1D233676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Neural Network?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CCD50-4165-FA92-7E26-C836AA984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8182"/>
            <a:ext cx="9489000" cy="37473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machine-learning model inspired by the human brain.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use interconnected nodes (akin to neurons) to detect patterns in data that conventional algorithms would not find.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778491-AF32-7E01-DB15-9A8AE6315FD0}"/>
              </a:ext>
            </a:extLst>
          </p:cNvPr>
          <p:cNvSpPr txBox="1"/>
          <p:nvPr/>
        </p:nvSpPr>
        <p:spPr>
          <a:xfrm>
            <a:off x="7367354" y="3579587"/>
            <a:ext cx="759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Size</a:t>
            </a:r>
            <a:endParaRPr lang="en-GB" sz="2400" b="1" dirty="0"/>
          </a:p>
        </p:txBody>
      </p:sp>
      <p:pic>
        <p:nvPicPr>
          <p:cNvPr id="28" name="Picture 27" descr="File:Single apple.png - Wikimedia Commons">
            <a:extLst>
              <a:ext uri="{FF2B5EF4-FFF2-40B4-BE49-F238E27FC236}">
                <a16:creationId xmlns:a16="http://schemas.microsoft.com/office/drawing/2014/main" id="{2289F3E8-6EA7-A8D3-B2AF-7DBA88D34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269" y="3554624"/>
            <a:ext cx="1309725" cy="15408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C823EA8-50D5-BD7C-DF74-A43E8041523E}"/>
              </a:ext>
            </a:extLst>
          </p:cNvPr>
          <p:cNvSpPr txBox="1"/>
          <p:nvPr/>
        </p:nvSpPr>
        <p:spPr>
          <a:xfrm>
            <a:off x="7285847" y="4953901"/>
            <a:ext cx="9923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Shape</a:t>
            </a:r>
            <a:endParaRPr lang="en-GB" sz="24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1FD6FAE-BB57-78EE-1864-0DC0C702392A}"/>
              </a:ext>
            </a:extLst>
          </p:cNvPr>
          <p:cNvCxnSpPr>
            <a:cxnSpLocks/>
          </p:cNvCxnSpPr>
          <p:nvPr/>
        </p:nvCxnSpPr>
        <p:spPr>
          <a:xfrm flipV="1">
            <a:off x="6720638" y="3812488"/>
            <a:ext cx="565209" cy="316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AA1C5A3-CF41-BAB1-A4FC-C1A24CD5CD25}"/>
              </a:ext>
            </a:extLst>
          </p:cNvPr>
          <p:cNvCxnSpPr>
            <a:cxnSpLocks/>
          </p:cNvCxnSpPr>
          <p:nvPr/>
        </p:nvCxnSpPr>
        <p:spPr>
          <a:xfrm>
            <a:off x="6720638" y="4776018"/>
            <a:ext cx="565209" cy="339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CC392F1-48F6-4E70-39EA-29B67E9A780A}"/>
              </a:ext>
            </a:extLst>
          </p:cNvPr>
          <p:cNvSpPr txBox="1"/>
          <p:nvPr/>
        </p:nvSpPr>
        <p:spPr>
          <a:xfrm>
            <a:off x="3344984" y="4032662"/>
            <a:ext cx="2344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data: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1160419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2A0527-F5BC-D823-AD00-47F7BEEEF23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352BE1-2AE8-16CD-7A4B-DA1F63B0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Neural Network?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D165-83DA-E57D-2E77-7DA297C99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8182"/>
            <a:ext cx="9489000" cy="37473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machine-learning model inspired by the human brain.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use interconnected nodes (akin to neurons) to detect patterns in data that conventional algorithms would not find.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9CD3570-F8D1-E21E-C68B-9168B5F498FF}"/>
              </a:ext>
            </a:extLst>
          </p:cNvPr>
          <p:cNvSpPr/>
          <p:nvPr/>
        </p:nvSpPr>
        <p:spPr>
          <a:xfrm>
            <a:off x="4940485" y="4030285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350C94A-410C-D13C-9752-88A995B469DA}"/>
              </a:ext>
            </a:extLst>
          </p:cNvPr>
          <p:cNvSpPr/>
          <p:nvPr/>
        </p:nvSpPr>
        <p:spPr>
          <a:xfrm>
            <a:off x="4930756" y="4678795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047BB9B-C178-F992-3886-EDC930080435}"/>
              </a:ext>
            </a:extLst>
          </p:cNvPr>
          <p:cNvSpPr/>
          <p:nvPr/>
        </p:nvSpPr>
        <p:spPr>
          <a:xfrm>
            <a:off x="6078979" y="3625468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6CD3A51-E10B-4B83-8EFC-6EEF47F3865D}"/>
              </a:ext>
            </a:extLst>
          </p:cNvPr>
          <p:cNvSpPr/>
          <p:nvPr/>
        </p:nvSpPr>
        <p:spPr>
          <a:xfrm>
            <a:off x="6078979" y="4344811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C25C755E-E4E3-091E-781A-2AC70C373457}"/>
              </a:ext>
            </a:extLst>
          </p:cNvPr>
          <p:cNvSpPr/>
          <p:nvPr/>
        </p:nvSpPr>
        <p:spPr>
          <a:xfrm>
            <a:off x="6078979" y="5067902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ADDA9F9-C60B-B572-9C65-3767920EEF3B}"/>
              </a:ext>
            </a:extLst>
          </p:cNvPr>
          <p:cNvSpPr/>
          <p:nvPr/>
        </p:nvSpPr>
        <p:spPr>
          <a:xfrm>
            <a:off x="7303807" y="4344811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180886-0360-0C13-430C-BC280C7DDDAD}"/>
              </a:ext>
            </a:extLst>
          </p:cNvPr>
          <p:cNvSpPr txBox="1"/>
          <p:nvPr/>
        </p:nvSpPr>
        <p:spPr>
          <a:xfrm>
            <a:off x="4546515" y="3567097"/>
            <a:ext cx="118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layer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11F77D-A6BF-15A7-3E51-5073B5F9BECF}"/>
              </a:ext>
            </a:extLst>
          </p:cNvPr>
          <p:cNvSpPr txBox="1"/>
          <p:nvPr/>
        </p:nvSpPr>
        <p:spPr>
          <a:xfrm>
            <a:off x="5443034" y="3213985"/>
            <a:ext cx="1670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Hidden layer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6CDEA1-564A-04B7-3DC1-BCF79FB85681}"/>
              </a:ext>
            </a:extLst>
          </p:cNvPr>
          <p:cNvSpPr txBox="1"/>
          <p:nvPr/>
        </p:nvSpPr>
        <p:spPr>
          <a:xfrm>
            <a:off x="6823504" y="3567097"/>
            <a:ext cx="1359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Output layer</a:t>
            </a:r>
            <a:endParaRPr lang="en-GB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BF1EC1-9407-A425-A296-E51A15E4432A}"/>
              </a:ext>
            </a:extLst>
          </p:cNvPr>
          <p:cNvCxnSpPr>
            <a:cxnSpLocks/>
            <a:stCxn id="5" idx="7"/>
            <a:endCxn id="7" idx="2"/>
          </p:cNvCxnSpPr>
          <p:nvPr/>
        </p:nvCxnSpPr>
        <p:spPr>
          <a:xfrm flipV="1">
            <a:off x="5280911" y="3820022"/>
            <a:ext cx="798068" cy="267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999755-D253-1E00-E9E3-5A5B78C13EE9}"/>
              </a:ext>
            </a:extLst>
          </p:cNvPr>
          <p:cNvCxnSpPr>
            <a:stCxn id="5" idx="6"/>
            <a:endCxn id="8" idx="1"/>
          </p:cNvCxnSpPr>
          <p:nvPr/>
        </p:nvCxnSpPr>
        <p:spPr>
          <a:xfrm>
            <a:off x="5339319" y="4224839"/>
            <a:ext cx="798068" cy="176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DFA6F1E-4F95-2B80-83A3-94A20E9D305A}"/>
              </a:ext>
            </a:extLst>
          </p:cNvPr>
          <p:cNvCxnSpPr>
            <a:stCxn id="6" idx="6"/>
            <a:endCxn id="8" idx="3"/>
          </p:cNvCxnSpPr>
          <p:nvPr/>
        </p:nvCxnSpPr>
        <p:spPr>
          <a:xfrm flipV="1">
            <a:off x="5329590" y="4676935"/>
            <a:ext cx="807797" cy="196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43DCA77-F0EA-D04C-6D19-02C05E91DEAA}"/>
              </a:ext>
            </a:extLst>
          </p:cNvPr>
          <p:cNvCxnSpPr>
            <a:stCxn id="6" idx="5"/>
            <a:endCxn id="14" idx="2"/>
          </p:cNvCxnSpPr>
          <p:nvPr/>
        </p:nvCxnSpPr>
        <p:spPr>
          <a:xfrm>
            <a:off x="5271182" y="5010919"/>
            <a:ext cx="807797" cy="251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5E8C047-1567-BE9D-4719-CE884DF4440E}"/>
              </a:ext>
            </a:extLst>
          </p:cNvPr>
          <p:cNvCxnSpPr>
            <a:stCxn id="5" idx="5"/>
            <a:endCxn id="14" idx="1"/>
          </p:cNvCxnSpPr>
          <p:nvPr/>
        </p:nvCxnSpPr>
        <p:spPr>
          <a:xfrm>
            <a:off x="5280911" y="4362409"/>
            <a:ext cx="856476" cy="762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B845AE0-AA0A-5691-F621-92F1AE4C651B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5271182" y="3957592"/>
            <a:ext cx="866205" cy="778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B0DFBC4-CD5E-3FEA-7E6D-D5C54E7B8581}"/>
              </a:ext>
            </a:extLst>
          </p:cNvPr>
          <p:cNvCxnSpPr>
            <a:cxnSpLocks/>
            <a:stCxn id="7" idx="6"/>
            <a:endCxn id="15" idx="1"/>
          </p:cNvCxnSpPr>
          <p:nvPr/>
        </p:nvCxnSpPr>
        <p:spPr>
          <a:xfrm>
            <a:off x="6477813" y="3820022"/>
            <a:ext cx="884402" cy="58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4D31B31-629C-E4FD-C419-CE22D3697045}"/>
              </a:ext>
            </a:extLst>
          </p:cNvPr>
          <p:cNvCxnSpPr>
            <a:stCxn id="8" idx="6"/>
            <a:endCxn id="15" idx="2"/>
          </p:cNvCxnSpPr>
          <p:nvPr/>
        </p:nvCxnSpPr>
        <p:spPr>
          <a:xfrm>
            <a:off x="6477813" y="4539365"/>
            <a:ext cx="8259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0D9F99A-D3CB-1B54-9DDA-7D585A4076D1}"/>
              </a:ext>
            </a:extLst>
          </p:cNvPr>
          <p:cNvCxnSpPr>
            <a:cxnSpLocks/>
            <a:stCxn id="14" idx="6"/>
            <a:endCxn id="15" idx="3"/>
          </p:cNvCxnSpPr>
          <p:nvPr/>
        </p:nvCxnSpPr>
        <p:spPr>
          <a:xfrm flipV="1">
            <a:off x="6477813" y="4676935"/>
            <a:ext cx="884402" cy="585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34A805F-7090-6DF1-4ECE-DB825D9A6A96}"/>
              </a:ext>
            </a:extLst>
          </p:cNvPr>
          <p:cNvSpPr txBox="1"/>
          <p:nvPr/>
        </p:nvSpPr>
        <p:spPr>
          <a:xfrm>
            <a:off x="4081915" y="3957727"/>
            <a:ext cx="716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Size</a:t>
            </a:r>
            <a:endParaRPr lang="en-GB" sz="2400" b="1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001475F-8991-AF3E-9C33-EED8A2CFE576}"/>
              </a:ext>
            </a:extLst>
          </p:cNvPr>
          <p:cNvCxnSpPr/>
          <p:nvPr/>
        </p:nvCxnSpPr>
        <p:spPr>
          <a:xfrm>
            <a:off x="7839328" y="4539365"/>
            <a:ext cx="6517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538F97C-18E5-63BB-A770-8957348327DF}"/>
              </a:ext>
            </a:extLst>
          </p:cNvPr>
          <p:cNvSpPr txBox="1"/>
          <p:nvPr/>
        </p:nvSpPr>
        <p:spPr>
          <a:xfrm>
            <a:off x="8543869" y="4314907"/>
            <a:ext cx="1421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Orange </a:t>
            </a:r>
            <a:r>
              <a:rPr lang="en-US" sz="2400" b="1" dirty="0">
                <a:solidFill>
                  <a:srgbClr val="FF0000"/>
                </a:solidFill>
              </a:rPr>
              <a:t>X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62A724-3C9C-99DC-C26C-7358D101887F}"/>
              </a:ext>
            </a:extLst>
          </p:cNvPr>
          <p:cNvSpPr txBox="1"/>
          <p:nvPr/>
        </p:nvSpPr>
        <p:spPr>
          <a:xfrm>
            <a:off x="3935135" y="4582958"/>
            <a:ext cx="1009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Shape</a:t>
            </a:r>
            <a:endParaRPr lang="en-GB" sz="24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B27707-D326-9201-E0D1-B6320A8C9EC0}"/>
              </a:ext>
            </a:extLst>
          </p:cNvPr>
          <p:cNvSpPr txBox="1"/>
          <p:nvPr/>
        </p:nvSpPr>
        <p:spPr>
          <a:xfrm>
            <a:off x="4081915" y="3957727"/>
            <a:ext cx="716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Size</a:t>
            </a:r>
            <a:endParaRPr lang="en-GB" sz="24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C70C77-AA2A-DE3B-BFC5-90C24637A162}"/>
              </a:ext>
            </a:extLst>
          </p:cNvPr>
          <p:cNvSpPr txBox="1"/>
          <p:nvPr/>
        </p:nvSpPr>
        <p:spPr>
          <a:xfrm>
            <a:off x="3935135" y="4582958"/>
            <a:ext cx="1009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Shape</a:t>
            </a:r>
            <a:endParaRPr lang="en-GB" sz="2400" b="1" dirty="0"/>
          </a:p>
        </p:txBody>
      </p:sp>
      <p:pic>
        <p:nvPicPr>
          <p:cNvPr id="65" name="Picture 64" descr="File:Single apple.png - Wikimedia Commons">
            <a:extLst>
              <a:ext uri="{FF2B5EF4-FFF2-40B4-BE49-F238E27FC236}">
                <a16:creationId xmlns:a16="http://schemas.microsoft.com/office/drawing/2014/main" id="{6946CBCF-CA75-B926-8F84-8E4866F05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752" y="3648965"/>
            <a:ext cx="1309725" cy="1540853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00BF02-AAEC-FFED-E3A0-32E1E228B474}"/>
              </a:ext>
            </a:extLst>
          </p:cNvPr>
          <p:cNvCxnSpPr>
            <a:cxnSpLocks/>
          </p:cNvCxnSpPr>
          <p:nvPr/>
        </p:nvCxnSpPr>
        <p:spPr>
          <a:xfrm flipV="1">
            <a:off x="3255921" y="4224838"/>
            <a:ext cx="655216" cy="162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C856D8B-2D3F-F702-C7CB-177F246C21F0}"/>
              </a:ext>
            </a:extLst>
          </p:cNvPr>
          <p:cNvCxnSpPr/>
          <p:nvPr/>
        </p:nvCxnSpPr>
        <p:spPr>
          <a:xfrm>
            <a:off x="3255921" y="4590164"/>
            <a:ext cx="664945" cy="14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422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F762C-6058-F997-F8E9-BB2AF3A02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112D28-D190-8051-0A71-80805FAA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38056F-0A41-8E1C-73ED-0E62AF08A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Neural Network?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A29D2-837D-7727-BA08-ABCCC28D3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8182"/>
            <a:ext cx="9489000" cy="37473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 input data leads to a higher accuracy.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changes depending on the number of neurons. One neuron is defined for each individual input dataset.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4C1FEF-47EF-1188-DAB9-1ABFEF8632FA}"/>
              </a:ext>
            </a:extLst>
          </p:cNvPr>
          <p:cNvSpPr txBox="1"/>
          <p:nvPr/>
        </p:nvSpPr>
        <p:spPr>
          <a:xfrm>
            <a:off x="7367354" y="3579587"/>
            <a:ext cx="7597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Size</a:t>
            </a:r>
            <a:endParaRPr lang="en-GB" sz="2400" b="1" dirty="0"/>
          </a:p>
        </p:txBody>
      </p:sp>
      <p:pic>
        <p:nvPicPr>
          <p:cNvPr id="9" name="Picture 8" descr="File:Single apple.png - Wikimedia Commons">
            <a:extLst>
              <a:ext uri="{FF2B5EF4-FFF2-40B4-BE49-F238E27FC236}">
                <a16:creationId xmlns:a16="http://schemas.microsoft.com/office/drawing/2014/main" id="{35AAD4C0-4BDB-FE37-E073-4DCA9E697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269" y="3554624"/>
            <a:ext cx="1309725" cy="1540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A0544F-DB5D-6588-F47B-2E40A3AC033E}"/>
              </a:ext>
            </a:extLst>
          </p:cNvPr>
          <p:cNvSpPr txBox="1"/>
          <p:nvPr/>
        </p:nvSpPr>
        <p:spPr>
          <a:xfrm>
            <a:off x="7285847" y="4953901"/>
            <a:ext cx="9923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Shape</a:t>
            </a:r>
            <a:endParaRPr lang="en-GB" sz="2400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BC84F8-83B6-0336-191D-84F2F764B010}"/>
              </a:ext>
            </a:extLst>
          </p:cNvPr>
          <p:cNvCxnSpPr>
            <a:cxnSpLocks/>
          </p:cNvCxnSpPr>
          <p:nvPr/>
        </p:nvCxnSpPr>
        <p:spPr>
          <a:xfrm flipV="1">
            <a:off x="6720638" y="3812488"/>
            <a:ext cx="565209" cy="316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464ACE-B534-5FC4-62CF-29A491C3D320}"/>
              </a:ext>
            </a:extLst>
          </p:cNvPr>
          <p:cNvCxnSpPr>
            <a:cxnSpLocks/>
          </p:cNvCxnSpPr>
          <p:nvPr/>
        </p:nvCxnSpPr>
        <p:spPr>
          <a:xfrm>
            <a:off x="6720638" y="4776018"/>
            <a:ext cx="565209" cy="339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0A1BEE7-FA7C-DD19-D945-58441A204675}"/>
              </a:ext>
            </a:extLst>
          </p:cNvPr>
          <p:cNvSpPr txBox="1"/>
          <p:nvPr/>
        </p:nvSpPr>
        <p:spPr>
          <a:xfrm>
            <a:off x="3171217" y="4032664"/>
            <a:ext cx="23449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Input data:</a:t>
            </a:r>
            <a:endParaRPr lang="en-GB" sz="32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5F6F4D-D382-3D1F-9C75-9EB832F297BA}"/>
              </a:ext>
            </a:extLst>
          </p:cNvPr>
          <p:cNvCxnSpPr>
            <a:cxnSpLocks/>
          </p:cNvCxnSpPr>
          <p:nvPr/>
        </p:nvCxnSpPr>
        <p:spPr>
          <a:xfrm>
            <a:off x="6769549" y="4476050"/>
            <a:ext cx="5978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8E18B28-3F19-F31F-9F9D-750EE99D530A}"/>
              </a:ext>
            </a:extLst>
          </p:cNvPr>
          <p:cNvSpPr txBox="1"/>
          <p:nvPr/>
        </p:nvSpPr>
        <p:spPr>
          <a:xfrm>
            <a:off x="7430608" y="4232402"/>
            <a:ext cx="1098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Colour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031976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26364-21C4-6EC7-DB0D-BC938C16D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10D522-B7C3-5374-6D6E-100ACEA4F3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F4A14D-E76D-746B-E91F-94571ADD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Neural Network?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BF8E6-88EF-541A-1D06-81E9465D4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8182"/>
            <a:ext cx="9489000" cy="37473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 input data leads to a higher accuracy.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changes depending on the number of neurons. One neuron is defined for each individual input dataset.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3FC5C34-3CF9-9D62-9394-88DE46B40AB7}"/>
              </a:ext>
            </a:extLst>
          </p:cNvPr>
          <p:cNvSpPr/>
          <p:nvPr/>
        </p:nvSpPr>
        <p:spPr>
          <a:xfrm>
            <a:off x="4935620" y="3936429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2E99F39-9C6D-0952-2EB7-E1A8CE95763E}"/>
              </a:ext>
            </a:extLst>
          </p:cNvPr>
          <p:cNvSpPr/>
          <p:nvPr/>
        </p:nvSpPr>
        <p:spPr>
          <a:xfrm>
            <a:off x="4940483" y="5036707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9692D38-0EEB-54E6-F058-1F31B03BA15E}"/>
              </a:ext>
            </a:extLst>
          </p:cNvPr>
          <p:cNvSpPr/>
          <p:nvPr/>
        </p:nvSpPr>
        <p:spPr>
          <a:xfrm>
            <a:off x="6078979" y="3625468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638DACF3-3013-492E-B597-E266C909B36E}"/>
              </a:ext>
            </a:extLst>
          </p:cNvPr>
          <p:cNvSpPr/>
          <p:nvPr/>
        </p:nvSpPr>
        <p:spPr>
          <a:xfrm>
            <a:off x="6078979" y="4484389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5CEE9AD0-035A-074D-8547-67FE4690D11D}"/>
              </a:ext>
            </a:extLst>
          </p:cNvPr>
          <p:cNvSpPr/>
          <p:nvPr/>
        </p:nvSpPr>
        <p:spPr>
          <a:xfrm>
            <a:off x="6078979" y="5343310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EEB764EB-12C8-4B5C-9783-99A454B38C48}"/>
              </a:ext>
            </a:extLst>
          </p:cNvPr>
          <p:cNvSpPr/>
          <p:nvPr/>
        </p:nvSpPr>
        <p:spPr>
          <a:xfrm>
            <a:off x="7294222" y="4491071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F28AC8-6ACF-C7D2-F559-984D5004F664}"/>
              </a:ext>
            </a:extLst>
          </p:cNvPr>
          <p:cNvSpPr txBox="1"/>
          <p:nvPr/>
        </p:nvSpPr>
        <p:spPr>
          <a:xfrm>
            <a:off x="4546514" y="3450689"/>
            <a:ext cx="118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layer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8C310-F858-18D8-1FCA-468D4AE24B85}"/>
              </a:ext>
            </a:extLst>
          </p:cNvPr>
          <p:cNvSpPr txBox="1"/>
          <p:nvPr/>
        </p:nvSpPr>
        <p:spPr>
          <a:xfrm>
            <a:off x="5443034" y="3213985"/>
            <a:ext cx="1670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Hidden layer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91197F-C78F-7AC8-9750-3C0827669307}"/>
              </a:ext>
            </a:extLst>
          </p:cNvPr>
          <p:cNvSpPr txBox="1"/>
          <p:nvPr/>
        </p:nvSpPr>
        <p:spPr>
          <a:xfrm>
            <a:off x="6823504" y="3567097"/>
            <a:ext cx="1359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Output layer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C7BE3-AB07-480F-2BA2-5BF6285BAEAA}"/>
              </a:ext>
            </a:extLst>
          </p:cNvPr>
          <p:cNvSpPr txBox="1"/>
          <p:nvPr/>
        </p:nvSpPr>
        <p:spPr>
          <a:xfrm>
            <a:off x="4081915" y="3957727"/>
            <a:ext cx="716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Size</a:t>
            </a:r>
            <a:endParaRPr lang="en-GB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5DBF4-DF75-D1C1-F9A1-5626754293BE}"/>
              </a:ext>
            </a:extLst>
          </p:cNvPr>
          <p:cNvSpPr txBox="1"/>
          <p:nvPr/>
        </p:nvSpPr>
        <p:spPr>
          <a:xfrm>
            <a:off x="3935135" y="4979271"/>
            <a:ext cx="1009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Shape</a:t>
            </a:r>
            <a:endParaRPr lang="en-GB" sz="2400" b="1" dirty="0"/>
          </a:p>
        </p:txBody>
      </p:sp>
      <p:pic>
        <p:nvPicPr>
          <p:cNvPr id="19" name="Picture 18" descr="File:Single apple.png - Wikimedia Commons">
            <a:extLst>
              <a:ext uri="{FF2B5EF4-FFF2-40B4-BE49-F238E27FC236}">
                <a16:creationId xmlns:a16="http://schemas.microsoft.com/office/drawing/2014/main" id="{665AF427-4CAA-7ACD-328A-EEEDFF143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752" y="3648965"/>
            <a:ext cx="1309725" cy="1540853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8538B7-45EB-0D5A-CE09-16EB45B391A3}"/>
              </a:ext>
            </a:extLst>
          </p:cNvPr>
          <p:cNvCxnSpPr>
            <a:cxnSpLocks/>
          </p:cNvCxnSpPr>
          <p:nvPr/>
        </p:nvCxnSpPr>
        <p:spPr>
          <a:xfrm flipV="1">
            <a:off x="3277364" y="4241111"/>
            <a:ext cx="655216" cy="162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0548B55-1935-8D50-5B3E-3E386859C085}"/>
              </a:ext>
            </a:extLst>
          </p:cNvPr>
          <p:cNvCxnSpPr>
            <a:cxnSpLocks/>
          </p:cNvCxnSpPr>
          <p:nvPr/>
        </p:nvCxnSpPr>
        <p:spPr>
          <a:xfrm>
            <a:off x="3272145" y="4678943"/>
            <a:ext cx="6169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06F5267C-489E-ABB6-3FA7-B211C0A3C207}"/>
              </a:ext>
            </a:extLst>
          </p:cNvPr>
          <p:cNvSpPr/>
          <p:nvPr/>
        </p:nvSpPr>
        <p:spPr>
          <a:xfrm>
            <a:off x="4932528" y="4491072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04159B-CE4F-D200-9962-283320EE4ED1}"/>
              </a:ext>
            </a:extLst>
          </p:cNvPr>
          <p:cNvSpPr txBox="1"/>
          <p:nvPr/>
        </p:nvSpPr>
        <p:spPr>
          <a:xfrm>
            <a:off x="3935135" y="4448111"/>
            <a:ext cx="1098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Colour</a:t>
            </a:r>
            <a:endParaRPr lang="en-GB" sz="2400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61829D-8D55-ADB6-7437-0967D6B49307}"/>
              </a:ext>
            </a:extLst>
          </p:cNvPr>
          <p:cNvCxnSpPr>
            <a:cxnSpLocks/>
          </p:cNvCxnSpPr>
          <p:nvPr/>
        </p:nvCxnSpPr>
        <p:spPr>
          <a:xfrm>
            <a:off x="3246192" y="4880179"/>
            <a:ext cx="668820" cy="245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3DEAEA1-AE92-FFBD-3629-688EDF7E6434}"/>
              </a:ext>
            </a:extLst>
          </p:cNvPr>
          <p:cNvCxnSpPr>
            <a:stCxn id="5" idx="7"/>
            <a:endCxn id="7" idx="1"/>
          </p:cNvCxnSpPr>
          <p:nvPr/>
        </p:nvCxnSpPr>
        <p:spPr>
          <a:xfrm flipV="1">
            <a:off x="5276046" y="3682451"/>
            <a:ext cx="861341" cy="310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BC1E48F-7A39-FDA2-1A21-1EC94D48B98C}"/>
              </a:ext>
            </a:extLst>
          </p:cNvPr>
          <p:cNvCxnSpPr>
            <a:stCxn id="5" idx="6"/>
            <a:endCxn id="8" idx="1"/>
          </p:cNvCxnSpPr>
          <p:nvPr/>
        </p:nvCxnSpPr>
        <p:spPr>
          <a:xfrm>
            <a:off x="5334454" y="4130983"/>
            <a:ext cx="802933" cy="410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BA0E254-CA58-0D2A-02BF-0A3B7DAFA8C0}"/>
              </a:ext>
            </a:extLst>
          </p:cNvPr>
          <p:cNvCxnSpPr>
            <a:cxnSpLocks/>
            <a:stCxn id="5" idx="5"/>
            <a:endCxn id="14" idx="1"/>
          </p:cNvCxnSpPr>
          <p:nvPr/>
        </p:nvCxnSpPr>
        <p:spPr>
          <a:xfrm>
            <a:off x="5276046" y="4268553"/>
            <a:ext cx="861341" cy="1131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13EDA4-E0F7-DE53-2CD0-A0A587E98D58}"/>
              </a:ext>
            </a:extLst>
          </p:cNvPr>
          <p:cNvCxnSpPr>
            <a:stCxn id="9" idx="7"/>
            <a:endCxn id="7" idx="2"/>
          </p:cNvCxnSpPr>
          <p:nvPr/>
        </p:nvCxnSpPr>
        <p:spPr>
          <a:xfrm flipV="1">
            <a:off x="5272954" y="3820022"/>
            <a:ext cx="806025" cy="728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5007CBD-861A-A7D6-02BA-2B128716A089}"/>
              </a:ext>
            </a:extLst>
          </p:cNvPr>
          <p:cNvCxnSpPr>
            <a:stCxn id="9" idx="6"/>
            <a:endCxn id="8" idx="2"/>
          </p:cNvCxnSpPr>
          <p:nvPr/>
        </p:nvCxnSpPr>
        <p:spPr>
          <a:xfrm flipV="1">
            <a:off x="5331362" y="4678943"/>
            <a:ext cx="747617" cy="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7099EE-3AF0-2089-FD15-62FA6818078C}"/>
              </a:ext>
            </a:extLst>
          </p:cNvPr>
          <p:cNvCxnSpPr>
            <a:cxnSpLocks/>
            <a:stCxn id="9" idx="5"/>
            <a:endCxn id="14" idx="2"/>
          </p:cNvCxnSpPr>
          <p:nvPr/>
        </p:nvCxnSpPr>
        <p:spPr>
          <a:xfrm>
            <a:off x="5272954" y="4823196"/>
            <a:ext cx="806025" cy="714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A3871F8-B61F-D5E0-FC0D-E69AC4EDAB20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5280909" y="3957592"/>
            <a:ext cx="856478" cy="113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0B537A2-B3D9-C138-79D0-30B3F280FF20}"/>
              </a:ext>
            </a:extLst>
          </p:cNvPr>
          <p:cNvCxnSpPr>
            <a:stCxn id="6" idx="6"/>
            <a:endCxn id="8" idx="3"/>
          </p:cNvCxnSpPr>
          <p:nvPr/>
        </p:nvCxnSpPr>
        <p:spPr>
          <a:xfrm flipV="1">
            <a:off x="5339317" y="4816513"/>
            <a:ext cx="798070" cy="414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8ABE3F5-FB10-7443-2D1A-08FEEC94FD36}"/>
              </a:ext>
            </a:extLst>
          </p:cNvPr>
          <p:cNvCxnSpPr>
            <a:cxnSpLocks/>
            <a:stCxn id="6" idx="5"/>
            <a:endCxn id="14" idx="3"/>
          </p:cNvCxnSpPr>
          <p:nvPr/>
        </p:nvCxnSpPr>
        <p:spPr>
          <a:xfrm>
            <a:off x="5280909" y="5368831"/>
            <a:ext cx="856478" cy="30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E73F0C5-EEDC-B41E-180B-220EA14A5560}"/>
              </a:ext>
            </a:extLst>
          </p:cNvPr>
          <p:cNvCxnSpPr>
            <a:stCxn id="7" idx="6"/>
            <a:endCxn id="15" idx="1"/>
          </p:cNvCxnSpPr>
          <p:nvPr/>
        </p:nvCxnSpPr>
        <p:spPr>
          <a:xfrm>
            <a:off x="6477813" y="3820022"/>
            <a:ext cx="874817" cy="72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62B6323-E457-4035-3C27-D4E2AF377117}"/>
              </a:ext>
            </a:extLst>
          </p:cNvPr>
          <p:cNvCxnSpPr>
            <a:stCxn id="8" idx="6"/>
            <a:endCxn id="15" idx="2"/>
          </p:cNvCxnSpPr>
          <p:nvPr/>
        </p:nvCxnSpPr>
        <p:spPr>
          <a:xfrm>
            <a:off x="6477813" y="4678943"/>
            <a:ext cx="816409" cy="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CE49E47-B645-94FF-CA73-332ED12B7DE6}"/>
              </a:ext>
            </a:extLst>
          </p:cNvPr>
          <p:cNvCxnSpPr>
            <a:stCxn id="14" idx="6"/>
            <a:endCxn id="15" idx="3"/>
          </p:cNvCxnSpPr>
          <p:nvPr/>
        </p:nvCxnSpPr>
        <p:spPr>
          <a:xfrm flipV="1">
            <a:off x="6477813" y="4823195"/>
            <a:ext cx="874817" cy="714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27B8DE8-12EC-6F9B-6B3D-AD46FED9EB0D}"/>
              </a:ext>
            </a:extLst>
          </p:cNvPr>
          <p:cNvSpPr txBox="1"/>
          <p:nvPr/>
        </p:nvSpPr>
        <p:spPr>
          <a:xfrm>
            <a:off x="8625090" y="4484389"/>
            <a:ext cx="1375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Tomato </a:t>
            </a:r>
            <a:r>
              <a:rPr lang="en-US" sz="2400" b="1" dirty="0">
                <a:solidFill>
                  <a:srgbClr val="FF0000"/>
                </a:solidFill>
              </a:rPr>
              <a:t>X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4E8EEF0-619C-B591-ED5F-F6DE75537467}"/>
              </a:ext>
            </a:extLst>
          </p:cNvPr>
          <p:cNvCxnSpPr/>
          <p:nvPr/>
        </p:nvCxnSpPr>
        <p:spPr>
          <a:xfrm>
            <a:off x="7796273" y="4704282"/>
            <a:ext cx="816409" cy="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80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9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2191-2A76-3CA2-E647-9C4BB951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FF9362-BAAC-746C-3236-2EB16B7EEF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9F3202-6B04-2BBE-7B8B-ABEBA04A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Neural Network?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99E82-E693-6181-BCB3-839C43ECE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68182"/>
            <a:ext cx="9489000" cy="37473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Deeper neural networks with more hidden layers can also give improved accuracy.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can also “learn” by adjusting the strength of the connections between nodes, based on the errors of previous iterations. 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36EDE874-9E06-9ABC-9928-9705198BCB91}"/>
              </a:ext>
            </a:extLst>
          </p:cNvPr>
          <p:cNvSpPr/>
          <p:nvPr/>
        </p:nvSpPr>
        <p:spPr>
          <a:xfrm>
            <a:off x="4057356" y="3936429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6B9B2F9-1822-BF12-8E8C-42BB6C414785}"/>
              </a:ext>
            </a:extLst>
          </p:cNvPr>
          <p:cNvSpPr/>
          <p:nvPr/>
        </p:nvSpPr>
        <p:spPr>
          <a:xfrm>
            <a:off x="4062219" y="5036707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C77820F8-9606-FBF5-F78F-348416D0FAD6}"/>
              </a:ext>
            </a:extLst>
          </p:cNvPr>
          <p:cNvSpPr/>
          <p:nvPr/>
        </p:nvSpPr>
        <p:spPr>
          <a:xfrm>
            <a:off x="5363378" y="3625468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3C13CAD-9CEC-B99C-3EFE-9F14DA95601A}"/>
              </a:ext>
            </a:extLst>
          </p:cNvPr>
          <p:cNvSpPr/>
          <p:nvPr/>
        </p:nvSpPr>
        <p:spPr>
          <a:xfrm>
            <a:off x="5363378" y="4484389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29DCB658-C0D9-5CE1-8BDF-45F6057C9787}"/>
              </a:ext>
            </a:extLst>
          </p:cNvPr>
          <p:cNvSpPr/>
          <p:nvPr/>
        </p:nvSpPr>
        <p:spPr>
          <a:xfrm>
            <a:off x="5363378" y="5343310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5DACEA94-113A-B88C-4490-89AA3FFB38DD}"/>
              </a:ext>
            </a:extLst>
          </p:cNvPr>
          <p:cNvSpPr/>
          <p:nvPr/>
        </p:nvSpPr>
        <p:spPr>
          <a:xfrm>
            <a:off x="8484000" y="4497754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3CCE2-0488-CB73-0D9C-880BD2C5CBB3}"/>
              </a:ext>
            </a:extLst>
          </p:cNvPr>
          <p:cNvSpPr txBox="1"/>
          <p:nvPr/>
        </p:nvSpPr>
        <p:spPr>
          <a:xfrm>
            <a:off x="3668250" y="3450689"/>
            <a:ext cx="118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layer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B6D33E-6877-86F9-DAD8-93E66F71A77F}"/>
              </a:ext>
            </a:extLst>
          </p:cNvPr>
          <p:cNvSpPr txBox="1"/>
          <p:nvPr/>
        </p:nvSpPr>
        <p:spPr>
          <a:xfrm>
            <a:off x="4727433" y="3213985"/>
            <a:ext cx="1670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Hidden layer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CD2941-0725-DF59-B3AD-753CE5102DC8}"/>
              </a:ext>
            </a:extLst>
          </p:cNvPr>
          <p:cNvSpPr txBox="1"/>
          <p:nvPr/>
        </p:nvSpPr>
        <p:spPr>
          <a:xfrm>
            <a:off x="8061857" y="3588260"/>
            <a:ext cx="1359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Output layer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4216B0-27F0-2F4C-A29E-17BC8A1E314F}"/>
              </a:ext>
            </a:extLst>
          </p:cNvPr>
          <p:cNvSpPr txBox="1"/>
          <p:nvPr/>
        </p:nvSpPr>
        <p:spPr>
          <a:xfrm>
            <a:off x="3203651" y="3957727"/>
            <a:ext cx="716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Size</a:t>
            </a:r>
            <a:endParaRPr lang="en-GB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94ED0C-FEDF-A757-89AE-A0F1EBF5D06E}"/>
              </a:ext>
            </a:extLst>
          </p:cNvPr>
          <p:cNvSpPr txBox="1"/>
          <p:nvPr/>
        </p:nvSpPr>
        <p:spPr>
          <a:xfrm>
            <a:off x="3056871" y="4979271"/>
            <a:ext cx="1009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Shape</a:t>
            </a:r>
            <a:endParaRPr lang="en-GB" sz="2400" b="1" dirty="0"/>
          </a:p>
        </p:txBody>
      </p:sp>
      <p:pic>
        <p:nvPicPr>
          <p:cNvPr id="19" name="Picture 18" descr="File:Single apple.png - Wikimedia Commons">
            <a:extLst>
              <a:ext uri="{FF2B5EF4-FFF2-40B4-BE49-F238E27FC236}">
                <a16:creationId xmlns:a16="http://schemas.microsoft.com/office/drawing/2014/main" id="{979F1D34-5DB3-8724-A41F-ADA892550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88" y="3648965"/>
            <a:ext cx="1309725" cy="1540853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19EC7B-6903-D681-E916-BD8D8FDB6F97}"/>
              </a:ext>
            </a:extLst>
          </p:cNvPr>
          <p:cNvCxnSpPr>
            <a:cxnSpLocks/>
          </p:cNvCxnSpPr>
          <p:nvPr/>
        </p:nvCxnSpPr>
        <p:spPr>
          <a:xfrm flipV="1">
            <a:off x="2399100" y="4241111"/>
            <a:ext cx="655216" cy="162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B54D0F-3279-2344-DD6E-9C0831481492}"/>
              </a:ext>
            </a:extLst>
          </p:cNvPr>
          <p:cNvCxnSpPr>
            <a:cxnSpLocks/>
          </p:cNvCxnSpPr>
          <p:nvPr/>
        </p:nvCxnSpPr>
        <p:spPr>
          <a:xfrm>
            <a:off x="2393881" y="4678943"/>
            <a:ext cx="6169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1DCA0295-B0A9-DCF7-0310-72E6D05689BF}"/>
              </a:ext>
            </a:extLst>
          </p:cNvPr>
          <p:cNvSpPr/>
          <p:nvPr/>
        </p:nvSpPr>
        <p:spPr>
          <a:xfrm>
            <a:off x="4054264" y="4491072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9A6322-5CAA-30A5-D95D-A904C2979561}"/>
              </a:ext>
            </a:extLst>
          </p:cNvPr>
          <p:cNvSpPr txBox="1"/>
          <p:nvPr/>
        </p:nvSpPr>
        <p:spPr>
          <a:xfrm>
            <a:off x="3056871" y="4448111"/>
            <a:ext cx="1098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Colour</a:t>
            </a:r>
            <a:endParaRPr lang="en-GB" sz="2400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50343D-5929-02BC-29AE-C312763584D9}"/>
              </a:ext>
            </a:extLst>
          </p:cNvPr>
          <p:cNvCxnSpPr>
            <a:cxnSpLocks/>
          </p:cNvCxnSpPr>
          <p:nvPr/>
        </p:nvCxnSpPr>
        <p:spPr>
          <a:xfrm>
            <a:off x="2367928" y="4880179"/>
            <a:ext cx="668820" cy="245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E37A62-943F-2F21-F292-2B0FDCEF32FF}"/>
              </a:ext>
            </a:extLst>
          </p:cNvPr>
          <p:cNvCxnSpPr>
            <a:stCxn id="5" idx="7"/>
            <a:endCxn id="7" idx="1"/>
          </p:cNvCxnSpPr>
          <p:nvPr/>
        </p:nvCxnSpPr>
        <p:spPr>
          <a:xfrm flipV="1">
            <a:off x="4397782" y="3682451"/>
            <a:ext cx="1024004" cy="310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330341-22D9-60EB-9CFB-DDDABA489C6E}"/>
              </a:ext>
            </a:extLst>
          </p:cNvPr>
          <p:cNvCxnSpPr>
            <a:stCxn id="5" idx="6"/>
            <a:endCxn id="8" idx="1"/>
          </p:cNvCxnSpPr>
          <p:nvPr/>
        </p:nvCxnSpPr>
        <p:spPr>
          <a:xfrm>
            <a:off x="4456190" y="4130983"/>
            <a:ext cx="965596" cy="410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19C7FB0-7A46-8CD1-6E19-9F5DD245D0B0}"/>
              </a:ext>
            </a:extLst>
          </p:cNvPr>
          <p:cNvCxnSpPr>
            <a:cxnSpLocks/>
            <a:stCxn id="5" idx="5"/>
            <a:endCxn id="14" idx="1"/>
          </p:cNvCxnSpPr>
          <p:nvPr/>
        </p:nvCxnSpPr>
        <p:spPr>
          <a:xfrm>
            <a:off x="4397782" y="4268553"/>
            <a:ext cx="1024004" cy="1131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0C19A2A-E697-4977-A2A6-44D459B6B5BF}"/>
              </a:ext>
            </a:extLst>
          </p:cNvPr>
          <p:cNvCxnSpPr>
            <a:stCxn id="9" idx="7"/>
            <a:endCxn id="7" idx="2"/>
          </p:cNvCxnSpPr>
          <p:nvPr/>
        </p:nvCxnSpPr>
        <p:spPr>
          <a:xfrm flipV="1">
            <a:off x="4394690" y="3820022"/>
            <a:ext cx="968688" cy="728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BEB012-446C-FCF8-EA75-6BAD3CEE2A04}"/>
              </a:ext>
            </a:extLst>
          </p:cNvPr>
          <p:cNvCxnSpPr>
            <a:stCxn id="9" idx="6"/>
            <a:endCxn id="8" idx="2"/>
          </p:cNvCxnSpPr>
          <p:nvPr/>
        </p:nvCxnSpPr>
        <p:spPr>
          <a:xfrm flipV="1">
            <a:off x="4453098" y="4678943"/>
            <a:ext cx="910280" cy="6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721B1E-D05B-AC66-AEFC-85D66EF5323E}"/>
              </a:ext>
            </a:extLst>
          </p:cNvPr>
          <p:cNvCxnSpPr>
            <a:cxnSpLocks/>
            <a:stCxn id="9" idx="5"/>
            <a:endCxn id="14" idx="2"/>
          </p:cNvCxnSpPr>
          <p:nvPr/>
        </p:nvCxnSpPr>
        <p:spPr>
          <a:xfrm>
            <a:off x="4394690" y="4823196"/>
            <a:ext cx="968688" cy="714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5053597-970A-119A-0F85-C3CDB3E212DC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4402645" y="3957592"/>
            <a:ext cx="1019141" cy="113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5B3697-E55D-0484-4A4E-5487585EE56F}"/>
              </a:ext>
            </a:extLst>
          </p:cNvPr>
          <p:cNvCxnSpPr>
            <a:cxnSpLocks/>
            <a:stCxn id="6" idx="6"/>
            <a:endCxn id="8" idx="3"/>
          </p:cNvCxnSpPr>
          <p:nvPr/>
        </p:nvCxnSpPr>
        <p:spPr>
          <a:xfrm flipV="1">
            <a:off x="4461053" y="4816513"/>
            <a:ext cx="960733" cy="414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C1F5BCD-A3EC-303B-F01D-09B0ECAD746D}"/>
              </a:ext>
            </a:extLst>
          </p:cNvPr>
          <p:cNvCxnSpPr>
            <a:cxnSpLocks/>
            <a:stCxn id="6" idx="5"/>
            <a:endCxn id="14" idx="3"/>
          </p:cNvCxnSpPr>
          <p:nvPr/>
        </p:nvCxnSpPr>
        <p:spPr>
          <a:xfrm>
            <a:off x="4402645" y="5368831"/>
            <a:ext cx="1019141" cy="30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9DF9335-659B-F3C0-9D57-370C39B9B186}"/>
              </a:ext>
            </a:extLst>
          </p:cNvPr>
          <p:cNvSpPr txBox="1"/>
          <p:nvPr/>
        </p:nvSpPr>
        <p:spPr>
          <a:xfrm>
            <a:off x="9814869" y="4491072"/>
            <a:ext cx="1231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Apple </a:t>
            </a:r>
            <a:r>
              <a:rPr lang="en-GB" sz="2400" dirty="0">
                <a:solidFill>
                  <a:srgbClr val="00B050"/>
                </a:solidFill>
              </a:rPr>
              <a:t>✔</a:t>
            </a:r>
            <a:endParaRPr lang="en-GB" sz="2400" b="1" dirty="0">
              <a:solidFill>
                <a:srgbClr val="00B050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87412C9-0D83-6A3C-F5F5-9EFBF1D19A7D}"/>
              </a:ext>
            </a:extLst>
          </p:cNvPr>
          <p:cNvCxnSpPr/>
          <p:nvPr/>
        </p:nvCxnSpPr>
        <p:spPr>
          <a:xfrm>
            <a:off x="8986051" y="4710965"/>
            <a:ext cx="816409" cy="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C454B592-3E1C-36E0-5940-39734F09A57B}"/>
              </a:ext>
            </a:extLst>
          </p:cNvPr>
          <p:cNvSpPr/>
          <p:nvPr/>
        </p:nvSpPr>
        <p:spPr>
          <a:xfrm>
            <a:off x="7005098" y="3625468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D40ED9D2-971E-E37C-B03F-662401B9C3EB}"/>
              </a:ext>
            </a:extLst>
          </p:cNvPr>
          <p:cNvSpPr/>
          <p:nvPr/>
        </p:nvSpPr>
        <p:spPr>
          <a:xfrm>
            <a:off x="7005098" y="4484389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7829C127-D4B9-79C5-21F5-10F98E56F1F1}"/>
              </a:ext>
            </a:extLst>
          </p:cNvPr>
          <p:cNvSpPr/>
          <p:nvPr/>
        </p:nvSpPr>
        <p:spPr>
          <a:xfrm>
            <a:off x="7005098" y="5343310"/>
            <a:ext cx="398834" cy="389107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B83641-4602-B56F-C19A-DBEB3472224B}"/>
              </a:ext>
            </a:extLst>
          </p:cNvPr>
          <p:cNvSpPr txBox="1"/>
          <p:nvPr/>
        </p:nvSpPr>
        <p:spPr>
          <a:xfrm>
            <a:off x="6391133" y="3213985"/>
            <a:ext cx="1670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Hidden layer</a:t>
            </a:r>
            <a:endParaRPr lang="en-GB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A34842A-C5F8-AF3C-358F-90D544406EC3}"/>
              </a:ext>
            </a:extLst>
          </p:cNvPr>
          <p:cNvCxnSpPr>
            <a:stCxn id="7" idx="6"/>
            <a:endCxn id="51" idx="2"/>
          </p:cNvCxnSpPr>
          <p:nvPr/>
        </p:nvCxnSpPr>
        <p:spPr>
          <a:xfrm>
            <a:off x="5762212" y="3820022"/>
            <a:ext cx="12428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2516699-35FA-8741-5169-A660DD3D931B}"/>
              </a:ext>
            </a:extLst>
          </p:cNvPr>
          <p:cNvCxnSpPr>
            <a:stCxn id="7" idx="5"/>
            <a:endCxn id="52" idx="1"/>
          </p:cNvCxnSpPr>
          <p:nvPr/>
        </p:nvCxnSpPr>
        <p:spPr>
          <a:xfrm>
            <a:off x="5703804" y="3957592"/>
            <a:ext cx="1359702" cy="58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8CB8686-330E-9919-6190-1934182BD285}"/>
              </a:ext>
            </a:extLst>
          </p:cNvPr>
          <p:cNvCxnSpPr>
            <a:stCxn id="7" idx="4"/>
            <a:endCxn id="53" idx="0"/>
          </p:cNvCxnSpPr>
          <p:nvPr/>
        </p:nvCxnSpPr>
        <p:spPr>
          <a:xfrm>
            <a:off x="5562795" y="4014575"/>
            <a:ext cx="1641720" cy="132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C1689DD-3FFF-0388-2ED8-8BE5B75BF62C}"/>
              </a:ext>
            </a:extLst>
          </p:cNvPr>
          <p:cNvCxnSpPr>
            <a:stCxn id="8" idx="7"/>
            <a:endCxn id="51" idx="3"/>
          </p:cNvCxnSpPr>
          <p:nvPr/>
        </p:nvCxnSpPr>
        <p:spPr>
          <a:xfrm flipV="1">
            <a:off x="5703804" y="3957592"/>
            <a:ext cx="1359702" cy="58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695BD43-45BC-6423-BAB5-3AF2C4D8DA0C}"/>
              </a:ext>
            </a:extLst>
          </p:cNvPr>
          <p:cNvCxnSpPr>
            <a:stCxn id="8" idx="6"/>
            <a:endCxn id="52" idx="2"/>
          </p:cNvCxnSpPr>
          <p:nvPr/>
        </p:nvCxnSpPr>
        <p:spPr>
          <a:xfrm>
            <a:off x="5762212" y="4678943"/>
            <a:ext cx="12428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F99D972-336E-F13B-FE89-B8B4DC4B1C70}"/>
              </a:ext>
            </a:extLst>
          </p:cNvPr>
          <p:cNvCxnSpPr>
            <a:stCxn id="8" idx="5"/>
            <a:endCxn id="53" idx="1"/>
          </p:cNvCxnSpPr>
          <p:nvPr/>
        </p:nvCxnSpPr>
        <p:spPr>
          <a:xfrm>
            <a:off x="5703804" y="4816513"/>
            <a:ext cx="1359702" cy="58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80887FB-5172-B800-C6D6-C839C5403EAD}"/>
              </a:ext>
            </a:extLst>
          </p:cNvPr>
          <p:cNvCxnSpPr>
            <a:cxnSpLocks/>
            <a:stCxn id="14" idx="0"/>
            <a:endCxn id="51" idx="4"/>
          </p:cNvCxnSpPr>
          <p:nvPr/>
        </p:nvCxnSpPr>
        <p:spPr>
          <a:xfrm flipV="1">
            <a:off x="5562795" y="4014575"/>
            <a:ext cx="1641720" cy="132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AF37FD5-6544-EF9F-6F23-1A97F11CB3E6}"/>
              </a:ext>
            </a:extLst>
          </p:cNvPr>
          <p:cNvCxnSpPr>
            <a:cxnSpLocks/>
            <a:stCxn id="14" idx="7"/>
            <a:endCxn id="52" idx="3"/>
          </p:cNvCxnSpPr>
          <p:nvPr/>
        </p:nvCxnSpPr>
        <p:spPr>
          <a:xfrm flipV="1">
            <a:off x="5703804" y="4816513"/>
            <a:ext cx="1359702" cy="583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13150E9-AA0D-E253-6D37-51C6E41A534C}"/>
              </a:ext>
            </a:extLst>
          </p:cNvPr>
          <p:cNvCxnSpPr>
            <a:stCxn id="14" idx="6"/>
            <a:endCxn id="53" idx="2"/>
          </p:cNvCxnSpPr>
          <p:nvPr/>
        </p:nvCxnSpPr>
        <p:spPr>
          <a:xfrm>
            <a:off x="5762212" y="5537864"/>
            <a:ext cx="12428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281E28C-97BE-3BAB-BAD1-434C0BBE85B3}"/>
              </a:ext>
            </a:extLst>
          </p:cNvPr>
          <p:cNvCxnSpPr>
            <a:stCxn id="51" idx="6"/>
            <a:endCxn id="15" idx="1"/>
          </p:cNvCxnSpPr>
          <p:nvPr/>
        </p:nvCxnSpPr>
        <p:spPr>
          <a:xfrm>
            <a:off x="7403932" y="3820022"/>
            <a:ext cx="1138476" cy="734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B29E77E-45B0-ED40-C19C-046CAB9BED85}"/>
              </a:ext>
            </a:extLst>
          </p:cNvPr>
          <p:cNvCxnSpPr>
            <a:stCxn id="52" idx="6"/>
            <a:endCxn id="15" idx="2"/>
          </p:cNvCxnSpPr>
          <p:nvPr/>
        </p:nvCxnSpPr>
        <p:spPr>
          <a:xfrm>
            <a:off x="7403932" y="4678943"/>
            <a:ext cx="1080068" cy="1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BC77F40-1D9C-5E43-7EEF-C610391DDFC1}"/>
              </a:ext>
            </a:extLst>
          </p:cNvPr>
          <p:cNvCxnSpPr>
            <a:stCxn id="53" idx="6"/>
            <a:endCxn id="15" idx="3"/>
          </p:cNvCxnSpPr>
          <p:nvPr/>
        </p:nvCxnSpPr>
        <p:spPr>
          <a:xfrm flipV="1">
            <a:off x="7403932" y="4829878"/>
            <a:ext cx="1138476" cy="707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84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6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8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4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6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8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2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7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A8D8EF-8DF6-773B-A340-1A8626929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7AC00D02-82AB-CB3A-EDCF-37914F981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lack">
            <a:extLst>
              <a:ext uri="{FF2B5EF4-FFF2-40B4-BE49-F238E27FC236}">
                <a16:creationId xmlns:a16="http://schemas.microsoft.com/office/drawing/2014/main" id="{A042C487-8DBE-267A-9DE1-8405A59B0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58C502-5B51-DC03-B99E-B0C64D4284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3" name="Main Frame">
            <a:extLst>
              <a:ext uri="{FF2B5EF4-FFF2-40B4-BE49-F238E27FC236}">
                <a16:creationId xmlns:a16="http://schemas.microsoft.com/office/drawing/2014/main" id="{470D3E16-88A5-787C-D76A-EB0F98BD0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71EFB-F430-0417-C000-FCE393C59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0968" y="2580921"/>
            <a:ext cx="8170037" cy="1611024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  <a:t>Determining the best fit to the data</a:t>
            </a:r>
            <a:endParaRPr lang="en-GB" dirty="0">
              <a:solidFill>
                <a:srgbClr val="FFFFFF"/>
              </a:solidFill>
              <a:latin typeface="Aptos Black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Main Horizontal Connector">
            <a:extLst>
              <a:ext uri="{FF2B5EF4-FFF2-40B4-BE49-F238E27FC236}">
                <a16:creationId xmlns:a16="http://schemas.microsoft.com/office/drawing/2014/main" id="{CF867DAD-AFA9-0B0F-6EA9-069D58F2A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Main Vertical Connector">
            <a:extLst>
              <a:ext uri="{FF2B5EF4-FFF2-40B4-BE49-F238E27FC236}">
                <a16:creationId xmlns:a16="http://schemas.microsoft.com/office/drawing/2014/main" id="{F1A0D10B-7FE2-11DD-C7B9-0605A778B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088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1B42-E15F-C939-4246-F1512EDA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66C6A2-F3FF-61E5-9152-5103639031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63FED-2550-7C71-6B5E-5549A8726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552782"/>
            <a:ext cx="10177851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neural networks with regression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42932-3315-5942-25A0-F8D732486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17" y="1878344"/>
            <a:ext cx="11303186" cy="455717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best for larger, complex datasets.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algorithms are best for smaller datasets and fit data to basic equations, rather than complex neural network predictions. Both work by updating their weights and bias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errors.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EAD57F-47F3-2C03-07C3-B22A49FC14E1}"/>
                  </a:ext>
                </a:extLst>
              </p:cNvPr>
              <p:cNvSpPr txBox="1"/>
              <p:nvPr/>
            </p:nvSpPr>
            <p:spPr>
              <a:xfrm>
                <a:off x="395883" y="3756679"/>
                <a:ext cx="11397206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fit (used in linear regression and neural networks):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𝑤𝑥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</m:oMath>
                  </m:oMathPara>
                </a14:m>
                <a:endParaRPr lang="en-GB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cs typeface="Times New Roman" panose="02020603050405020304" pitchFamily="18" charset="0"/>
                  </a:rPr>
                  <a:t>	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weight of the algorithm,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input data, &amp;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bias of the algorithm.</a:t>
                </a: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4EAD57F-47F3-2C03-07C3-B22A49FC1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83" y="3756679"/>
                <a:ext cx="11397206" cy="1508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545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DDA8A-5A86-53DA-10F7-16CC99DF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78B75E-408C-8709-9B3F-7D3D7C46BB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82A48B-9D29-C32D-17E9-DE24623E8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552782"/>
            <a:ext cx="10177851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neural networks with regression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523003-CC83-99F9-04F5-3C7C2824A537}"/>
                  </a:ext>
                </a:extLst>
              </p:cNvPr>
              <p:cNvSpPr txBox="1"/>
              <p:nvPr/>
            </p:nvSpPr>
            <p:spPr>
              <a:xfrm>
                <a:off x="395883" y="1814559"/>
                <a:ext cx="11397206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fit (used in linear regression and neural networks):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𝑤𝑥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</m:oMath>
                  </m:oMathPara>
                </a14:m>
                <a:endParaRPr lang="en-GB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cs typeface="Times New Roman" panose="02020603050405020304" pitchFamily="18" charset="0"/>
                  </a:rPr>
                  <a:t>	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weight of the algorithm,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input data, &amp;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bias of the algorithm.</a:t>
                </a: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523003-CC83-99F9-04F5-3C7C2824A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83" y="1814559"/>
                <a:ext cx="11397206" cy="1508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F136206-26DB-F508-65E6-BDF7F967DE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330" y="3113489"/>
                <a:ext cx="11303186" cy="5555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3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228600" algn="l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-228600" algn="l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determine weights and biases, the mean squared error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of the algorithm is minimised by taking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GB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</m:acc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F136206-26DB-F508-65E6-BDF7F967D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30" y="3113489"/>
                <a:ext cx="11303186" cy="555507"/>
              </a:xfrm>
              <a:prstGeom prst="rect">
                <a:avLst/>
              </a:prstGeom>
              <a:blipFill>
                <a:blip r:embed="rId4"/>
                <a:stretch>
                  <a:fillRect l="-593" b="-43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54E733B-22CB-B100-FAAD-1956FF0D7E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893" y="3503530"/>
                <a:ext cx="11303186" cy="24306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−(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)]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number of datapoints,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output datapoint,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input datapoint.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54E733B-22CB-B100-FAAD-1956FF0D7E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893" y="3503530"/>
                <a:ext cx="11303186" cy="2430684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172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FFE49-B6F2-1511-8AD6-81BC7B24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85020B-0C67-8F38-A4B7-87300C9A0B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22EBD6-DB8A-BD58-9933-74DDD995F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552782"/>
            <a:ext cx="10177851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neural networks with regression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51EF1B5-7B12-63F4-BD95-BF02EAFCA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893" y="1454811"/>
                <a:ext cx="11303186" cy="24306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−(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)]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number of datapoints,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output datapoint,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input datapoint.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951EF1B5-7B12-63F4-BD95-BF02EAFCA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893" y="1454811"/>
                <a:ext cx="11303186" cy="243068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35DA9-A265-90D5-9F8E-AC743ADCAE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893" y="2992258"/>
                <a:ext cx="11303186" cy="46960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3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228600" algn="l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-228600" algn="l" defTabSz="914400" rtl="0" eaLnBrk="1" latinLnBrk="0" hangingPunct="1">
                  <a:lnSpc>
                    <a:spcPct val="13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−(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)]</m:t>
                          </m:r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&amp;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−(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)]</m:t>
                          </m:r>
                        </m:e>
                      </m:nary>
                    </m:oMath>
                  </m:oMathPara>
                </a14:m>
                <a:endParaRPr lang="en-GB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Then, the weights and biases are updated using these derivatives and a preset learning rate (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←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−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𝑑𝑤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&amp;   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←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GB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35DA9-A265-90D5-9F8E-AC743ADCA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93" y="2992258"/>
                <a:ext cx="11303186" cy="4696075"/>
              </a:xfrm>
              <a:prstGeom prst="rect">
                <a:avLst/>
              </a:prstGeom>
              <a:blipFill>
                <a:blip r:embed="rId4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868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1F30F-0FF8-643F-F568-8592B06C2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D125C890-944A-A373-E2BF-9288DB508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lack">
            <a:extLst>
              <a:ext uri="{FF2B5EF4-FFF2-40B4-BE49-F238E27FC236}">
                <a16:creationId xmlns:a16="http://schemas.microsoft.com/office/drawing/2014/main" id="{C67F1CC7-E5AE-4D99-77AF-9C12746F4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30DDA-9FCF-3D0D-982C-A55478ABD9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3" name="Main Frame">
            <a:extLst>
              <a:ext uri="{FF2B5EF4-FFF2-40B4-BE49-F238E27FC236}">
                <a16:creationId xmlns:a16="http://schemas.microsoft.com/office/drawing/2014/main" id="{304327E0-F2C6-A954-05D2-326BAE384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0AFAD-655D-CEF6-5604-E8C90F999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6713" y="3067406"/>
            <a:ext cx="8170037" cy="1066780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  <a:t>Creating the desktop application</a:t>
            </a:r>
            <a:endParaRPr lang="en-GB" dirty="0">
              <a:solidFill>
                <a:srgbClr val="FFFFFF"/>
              </a:solidFill>
              <a:latin typeface="Aptos Black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Main Horizontal Connector">
            <a:extLst>
              <a:ext uri="{FF2B5EF4-FFF2-40B4-BE49-F238E27FC236}">
                <a16:creationId xmlns:a16="http://schemas.microsoft.com/office/drawing/2014/main" id="{3B8BC62A-B310-CD3C-6F50-4BEFCC039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Main Vertical Connector">
            <a:extLst>
              <a:ext uri="{FF2B5EF4-FFF2-40B4-BE49-F238E27FC236}">
                <a16:creationId xmlns:a16="http://schemas.microsoft.com/office/drawing/2014/main" id="{FFEAC577-F344-DD2C-A60A-4287856D6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376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78347-F6E7-A32B-A406-B860B656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8862EE-34D4-37F6-E0DE-61F0BC22E5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1395DC-277C-809E-5024-65B8C142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594" y="444910"/>
            <a:ext cx="94890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and compiling the program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F5C10-845A-6C85-BE67-D59918691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50" y="1578457"/>
            <a:ext cx="11238907" cy="41691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was written and compiled in Python, hence the large file size.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used: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Matplotlib,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Lightkurve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Pandas.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directory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/>
              <a:t>→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					            </a:t>
            </a:r>
            <a:r>
              <a:rPr lang="en-GB" dirty="0"/>
              <a:t>← 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logo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91028D-A499-1F36-9580-EAC8AF1B1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86" y="2755510"/>
            <a:ext cx="2951910" cy="29519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FCE471-9C58-0DC2-49BA-B2BBDE9E3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171" y="2904020"/>
            <a:ext cx="2645923" cy="265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013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CEF4-44C7-8C19-81A9-2AA13A28A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8CE797-0279-C79A-F5BA-87AC5EEC98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71933-05D7-07A5-8FD7-7D13C32AB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50" y="1578457"/>
            <a:ext cx="11238907" cy="41691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000F7C-F73C-BD50-7AFE-C984FFF39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32" cy="6538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0F83D4-F185-D921-4E24-187BE7E632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3068" y="0"/>
            <a:ext cx="12188932" cy="685799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04356-BA85-B360-396B-E1588594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637" y="2766213"/>
            <a:ext cx="94890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Graphical User Interface (GUI)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93F0F-8E61-861D-F439-5C14086C4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384" y="0"/>
            <a:ext cx="784548" cy="7872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C6FEBF-1A7A-26D0-F5CE-0B16BAF98B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5643" cy="15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13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38F5-DCC8-46D0-922B-FAD7350C7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E71299-C58D-B94E-AF75-B667055A55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0916F-367A-DD90-8C12-FE800961D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50" y="1578457"/>
            <a:ext cx="11238907" cy="41691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6D664-A6A4-0EE2-3CCC-FA74F2093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2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7B42B6-0F91-1998-6DEC-341C69654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384" y="0"/>
            <a:ext cx="784548" cy="78720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49012E0-93DC-14DF-A044-399BDAD1E75A}"/>
              </a:ext>
            </a:extLst>
          </p:cNvPr>
          <p:cNvSpPr/>
          <p:nvPr/>
        </p:nvSpPr>
        <p:spPr>
          <a:xfrm>
            <a:off x="446372" y="3842425"/>
            <a:ext cx="1645075" cy="143711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376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7493-1F77-6F7D-3912-E79D019B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B29654-5B79-A2DB-2DD0-04A2A2E7E4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BB906-7D19-78EC-7932-2A37A72F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50" y="1578457"/>
            <a:ext cx="11238907" cy="41691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28322B-01C9-21AE-6DCF-512EDD6CE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9" y="-1"/>
            <a:ext cx="12247751" cy="65512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757F01-7977-0391-430D-0B120D792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384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56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CC907-5C4C-660D-F1DC-E7E541C8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CE6B6E-8586-ADB6-DB80-052164E870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40E78-59A6-EC34-81B6-B82352BCF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50" y="1578457"/>
            <a:ext cx="11238907" cy="41691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3CCAC-DB56-07C9-A25E-C8A4F7846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69390" cy="65628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773CFE0-94F7-E7C8-1475-A1B182682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384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12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49049-4C00-0E03-1CEB-42BE30D01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1A8B17-2BCE-0D0D-6CDD-B70EC84142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12C32-76DB-8FFA-E9BF-584743D2D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50" y="1578457"/>
            <a:ext cx="11238907" cy="41691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36E180-462B-A979-D9F3-8E0C127A4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251163" cy="6546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D04442-1551-A94F-2900-F11A1B1DB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384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2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E94338-5836-14D3-B27E-54AE2586D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F75F0EAB-EB39-5361-C2CA-9D2C2F845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lack">
            <a:extLst>
              <a:ext uri="{FF2B5EF4-FFF2-40B4-BE49-F238E27FC236}">
                <a16:creationId xmlns:a16="http://schemas.microsoft.com/office/drawing/2014/main" id="{B11BBC94-F3E8-006F-27F1-FD69DCD3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3B1546-E1D5-9951-23A0-4147FA4349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3" name="Main Frame">
            <a:extLst>
              <a:ext uri="{FF2B5EF4-FFF2-40B4-BE49-F238E27FC236}">
                <a16:creationId xmlns:a16="http://schemas.microsoft.com/office/drawing/2014/main" id="{98DD0BE2-E0FA-B3B8-3C96-C1BCD6145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95DC0-9780-6D40-0C2B-9863045B1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117" y="2778909"/>
            <a:ext cx="8170037" cy="1066780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  <a:t>Results and conclusions</a:t>
            </a:r>
            <a:endParaRPr lang="en-GB" dirty="0">
              <a:solidFill>
                <a:srgbClr val="FFFFFF"/>
              </a:solidFill>
              <a:latin typeface="Aptos Black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Main Horizontal Connector">
            <a:extLst>
              <a:ext uri="{FF2B5EF4-FFF2-40B4-BE49-F238E27FC236}">
                <a16:creationId xmlns:a16="http://schemas.microsoft.com/office/drawing/2014/main" id="{423FD618-3441-0695-DDED-41F2B4276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Main Vertical Connector">
            <a:extLst>
              <a:ext uri="{FF2B5EF4-FFF2-40B4-BE49-F238E27FC236}">
                <a16:creationId xmlns:a16="http://schemas.microsoft.com/office/drawing/2014/main" id="{332B988E-4FAD-122D-DB68-35A7BFF47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2FF4FE3-B616-751D-7131-DED8A8A9E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384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91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6CD3-A7BB-E32A-3A23-6C843D58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7548A2-18C8-820A-EB5F-29A4502420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8843B-E56F-DD4E-7347-BB0F764FD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250" y="1578457"/>
            <a:ext cx="11238907" cy="41691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0A3B8-04F1-A9C9-2B4A-8C501CDC0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384" y="0"/>
            <a:ext cx="784548" cy="7872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6B0ACE-3BE7-839D-21DC-88019DD9A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" y="4911"/>
            <a:ext cx="12258440" cy="6576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A634E0-EB76-82F8-48DF-29FB11B70F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-3727" y="10"/>
            <a:ext cx="12188932" cy="685799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9F11B0-92D5-8B76-52E8-81D14412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130" y="2766218"/>
            <a:ext cx="7295285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 (from 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YFinance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6AC198-6AEC-98FA-4A40-8008691BF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18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35A1-5B89-BCA5-6C18-F46B07E52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BE895-B36C-37FA-0E9B-7FC1261A15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E26F77F-BE64-4082-EC09-7854707C0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2280740" cy="65753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5E7699-ACC9-16DB-785E-767143556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384" y="0"/>
            <a:ext cx="784548" cy="78720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8968A682-6D52-D264-DDD0-CBEE86C41CB9}"/>
              </a:ext>
            </a:extLst>
          </p:cNvPr>
          <p:cNvSpPr txBox="1">
            <a:spLocks/>
          </p:cNvSpPr>
          <p:nvPr/>
        </p:nvSpPr>
        <p:spPr>
          <a:xfrm>
            <a:off x="7123880" y="5738950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 iterations – 3.73%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9562799-B183-07EC-143E-80F7367442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0"/>
            <a:ext cx="12304680" cy="6575313"/>
          </a:xfrm>
          <a:prstGeom prst="rect">
            <a:avLst/>
          </a:prstGeom>
        </p:spPr>
      </p:pic>
      <p:sp>
        <p:nvSpPr>
          <p:cNvPr id="34" name="Title 1">
            <a:extLst>
              <a:ext uri="{FF2B5EF4-FFF2-40B4-BE49-F238E27FC236}">
                <a16:creationId xmlns:a16="http://schemas.microsoft.com/office/drawing/2014/main" id="{FEAC1866-D8E2-1CB9-B09A-A52F02097135}"/>
              </a:ext>
            </a:extLst>
          </p:cNvPr>
          <p:cNvSpPr txBox="1">
            <a:spLocks/>
          </p:cNvSpPr>
          <p:nvPr/>
        </p:nvSpPr>
        <p:spPr>
          <a:xfrm>
            <a:off x="7123880" y="5738950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 iterations – 3.81%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A34FAB8-1E75-6B9C-B0A8-541504345D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304679" cy="6581720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DE98902B-D94A-360A-5D40-5112E5231F65}"/>
              </a:ext>
            </a:extLst>
          </p:cNvPr>
          <p:cNvSpPr txBox="1">
            <a:spLocks/>
          </p:cNvSpPr>
          <p:nvPr/>
        </p:nvSpPr>
        <p:spPr>
          <a:xfrm>
            <a:off x="7123880" y="5738940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iterations – 4.04%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05E4161-0339-34D5-9D43-5E232CA195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1" y="0"/>
            <a:ext cx="12280740" cy="6575313"/>
          </a:xfrm>
          <a:prstGeom prst="rect">
            <a:avLst/>
          </a:prstGeom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2B121DE3-9049-DCB5-DF90-248C91066C4F}"/>
              </a:ext>
            </a:extLst>
          </p:cNvPr>
          <p:cNvSpPr txBox="1">
            <a:spLocks/>
          </p:cNvSpPr>
          <p:nvPr/>
        </p:nvSpPr>
        <p:spPr>
          <a:xfrm>
            <a:off x="7123880" y="5738940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 iterations – 4.16%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81D9B21-A942-3564-B3DA-72D093DA6C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068" y="4695"/>
            <a:ext cx="12280740" cy="6568917"/>
          </a:xfrm>
          <a:prstGeom prst="rect">
            <a:avLst/>
          </a:prstGeom>
        </p:spPr>
      </p:pic>
      <p:sp>
        <p:nvSpPr>
          <p:cNvPr id="43" name="Title 1">
            <a:extLst>
              <a:ext uri="{FF2B5EF4-FFF2-40B4-BE49-F238E27FC236}">
                <a16:creationId xmlns:a16="http://schemas.microsoft.com/office/drawing/2014/main" id="{9A5CE221-76AB-9C26-BAF2-88F553DE80DB}"/>
              </a:ext>
            </a:extLst>
          </p:cNvPr>
          <p:cNvSpPr txBox="1">
            <a:spLocks/>
          </p:cNvSpPr>
          <p:nvPr/>
        </p:nvSpPr>
        <p:spPr>
          <a:xfrm>
            <a:off x="7123880" y="5738939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 iterations – 4.35%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8D01D8B-DC22-FE83-C96B-CE0ED704CA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6116" y="-6407"/>
            <a:ext cx="12280739" cy="6568916"/>
          </a:xfrm>
          <a:prstGeom prst="rect">
            <a:avLst/>
          </a:prstGeom>
        </p:spPr>
      </p:pic>
      <p:sp>
        <p:nvSpPr>
          <p:cNvPr id="46" name="Title 1">
            <a:extLst>
              <a:ext uri="{FF2B5EF4-FFF2-40B4-BE49-F238E27FC236}">
                <a16:creationId xmlns:a16="http://schemas.microsoft.com/office/drawing/2014/main" id="{CE917E41-770A-48CA-D69C-F3B46763A1AC}"/>
              </a:ext>
            </a:extLst>
          </p:cNvPr>
          <p:cNvSpPr txBox="1">
            <a:spLocks/>
          </p:cNvSpPr>
          <p:nvPr/>
        </p:nvSpPr>
        <p:spPr>
          <a:xfrm>
            <a:off x="7123880" y="5730831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 iterations – 4.54%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E60E55B-2356-0AF2-64B7-4D29FFB95B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117" y="-6407"/>
            <a:ext cx="12280739" cy="6568916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6E7A2326-A3D3-272B-DCB7-BF2DE3130A3B}"/>
              </a:ext>
            </a:extLst>
          </p:cNvPr>
          <p:cNvSpPr txBox="1">
            <a:spLocks/>
          </p:cNvSpPr>
          <p:nvPr/>
        </p:nvSpPr>
        <p:spPr>
          <a:xfrm>
            <a:off x="7123880" y="5718027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 iterations – 4.74%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EB864C6-CD7E-27FA-9832-C4AA94B376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84" y="-6407"/>
            <a:ext cx="12269938" cy="6582310"/>
          </a:xfrm>
          <a:prstGeom prst="rect">
            <a:avLst/>
          </a:prstGeom>
        </p:spPr>
      </p:pic>
      <p:sp>
        <p:nvSpPr>
          <p:cNvPr id="52" name="Title 1">
            <a:extLst>
              <a:ext uri="{FF2B5EF4-FFF2-40B4-BE49-F238E27FC236}">
                <a16:creationId xmlns:a16="http://schemas.microsoft.com/office/drawing/2014/main" id="{5748A201-945B-9D90-302E-F5D940FE804D}"/>
              </a:ext>
            </a:extLst>
          </p:cNvPr>
          <p:cNvSpPr txBox="1">
            <a:spLocks/>
          </p:cNvSpPr>
          <p:nvPr/>
        </p:nvSpPr>
        <p:spPr>
          <a:xfrm>
            <a:off x="7123880" y="5718027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iterations – 4.91%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FD1565D-F4F1-D3C4-5CA8-3748ACE4275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4" y="0"/>
            <a:ext cx="12269938" cy="6563139"/>
          </a:xfrm>
          <a:prstGeom prst="rect">
            <a:avLst/>
          </a:prstGeom>
        </p:spPr>
      </p:pic>
      <p:sp>
        <p:nvSpPr>
          <p:cNvPr id="55" name="Title 1">
            <a:extLst>
              <a:ext uri="{FF2B5EF4-FFF2-40B4-BE49-F238E27FC236}">
                <a16:creationId xmlns:a16="http://schemas.microsoft.com/office/drawing/2014/main" id="{92A12693-0E7C-DB52-EB24-359EDEEC1429}"/>
              </a:ext>
            </a:extLst>
          </p:cNvPr>
          <p:cNvSpPr txBox="1">
            <a:spLocks/>
          </p:cNvSpPr>
          <p:nvPr/>
        </p:nvSpPr>
        <p:spPr>
          <a:xfrm>
            <a:off x="7293357" y="5721700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iterations – 5.10%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ED64546-E074-781A-05F3-AF02C2D3CC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4684" y="-6408"/>
            <a:ext cx="12269938" cy="6563139"/>
          </a:xfrm>
          <a:prstGeom prst="rect">
            <a:avLst/>
          </a:prstGeom>
        </p:spPr>
      </p:pic>
      <p:sp>
        <p:nvSpPr>
          <p:cNvPr id="58" name="Title 1">
            <a:extLst>
              <a:ext uri="{FF2B5EF4-FFF2-40B4-BE49-F238E27FC236}">
                <a16:creationId xmlns:a16="http://schemas.microsoft.com/office/drawing/2014/main" id="{FD20FDBC-EDA8-3F9D-0F26-A8E09950E9B9}"/>
              </a:ext>
            </a:extLst>
          </p:cNvPr>
          <p:cNvSpPr txBox="1">
            <a:spLocks/>
          </p:cNvSpPr>
          <p:nvPr/>
        </p:nvSpPr>
        <p:spPr>
          <a:xfrm>
            <a:off x="7301109" y="5708896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iterations – 4.98%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A78E36C2-185D-3F54-04FA-D31472AF889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42" y="2993"/>
            <a:ext cx="12265295" cy="6560655"/>
          </a:xfrm>
          <a:prstGeom prst="rect">
            <a:avLst/>
          </a:prstGeom>
        </p:spPr>
      </p:pic>
      <p:sp>
        <p:nvSpPr>
          <p:cNvPr id="61" name="Title 1">
            <a:extLst>
              <a:ext uri="{FF2B5EF4-FFF2-40B4-BE49-F238E27FC236}">
                <a16:creationId xmlns:a16="http://schemas.microsoft.com/office/drawing/2014/main" id="{F984F997-C1A7-6FF8-4812-4DE76D0CC26B}"/>
              </a:ext>
            </a:extLst>
          </p:cNvPr>
          <p:cNvSpPr txBox="1">
            <a:spLocks/>
          </p:cNvSpPr>
          <p:nvPr/>
        </p:nvSpPr>
        <p:spPr>
          <a:xfrm>
            <a:off x="7308385" y="5715303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iterations – 4.54%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0DB28510-C6C7-160B-B682-ED2C1971872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4704" y="-6409"/>
            <a:ext cx="12269940" cy="6563140"/>
          </a:xfrm>
          <a:prstGeom prst="rect">
            <a:avLst/>
          </a:prstGeom>
        </p:spPr>
      </p:pic>
      <p:sp>
        <p:nvSpPr>
          <p:cNvPr id="64" name="Title 1">
            <a:extLst>
              <a:ext uri="{FF2B5EF4-FFF2-40B4-BE49-F238E27FC236}">
                <a16:creationId xmlns:a16="http://schemas.microsoft.com/office/drawing/2014/main" id="{05818314-94BB-2E1F-9B6C-2F3F456DF9AB}"/>
              </a:ext>
            </a:extLst>
          </p:cNvPr>
          <p:cNvSpPr txBox="1">
            <a:spLocks/>
          </p:cNvSpPr>
          <p:nvPr/>
        </p:nvSpPr>
        <p:spPr>
          <a:xfrm>
            <a:off x="7301089" y="5717397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iterations – 3.93%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611AB3C-87C1-1A34-0323-16F9BC616C9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12456" y="-1654"/>
            <a:ext cx="12277691" cy="6573680"/>
          </a:xfrm>
          <a:prstGeom prst="rect">
            <a:avLst/>
          </a:prstGeom>
        </p:spPr>
      </p:pic>
      <p:sp>
        <p:nvSpPr>
          <p:cNvPr id="67" name="Title 1">
            <a:extLst>
              <a:ext uri="{FF2B5EF4-FFF2-40B4-BE49-F238E27FC236}">
                <a16:creationId xmlns:a16="http://schemas.microsoft.com/office/drawing/2014/main" id="{7763A045-CF67-AF20-5182-2E7F0FBBD0CC}"/>
              </a:ext>
            </a:extLst>
          </p:cNvPr>
          <p:cNvSpPr txBox="1">
            <a:spLocks/>
          </p:cNvSpPr>
          <p:nvPr/>
        </p:nvSpPr>
        <p:spPr>
          <a:xfrm>
            <a:off x="7301069" y="5710597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iterations – 6.66%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7CDD213-78EA-24F6-32E9-C1F166D58EF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95" y="4911"/>
            <a:ext cx="12258440" cy="6576142"/>
          </a:xfrm>
          <a:prstGeom prst="rect">
            <a:avLst/>
          </a:prstGeom>
        </p:spPr>
      </p:pic>
      <p:sp>
        <p:nvSpPr>
          <p:cNvPr id="70" name="Title 1">
            <a:extLst>
              <a:ext uri="{FF2B5EF4-FFF2-40B4-BE49-F238E27FC236}">
                <a16:creationId xmlns:a16="http://schemas.microsoft.com/office/drawing/2014/main" id="{123B1A26-60ED-9421-8902-C300D569C572}"/>
              </a:ext>
            </a:extLst>
          </p:cNvPr>
          <p:cNvSpPr txBox="1">
            <a:spLocks/>
          </p:cNvSpPr>
          <p:nvPr/>
        </p:nvSpPr>
        <p:spPr>
          <a:xfrm>
            <a:off x="7470546" y="5724424"/>
            <a:ext cx="467277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iterations – 15.30% error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3ACA1830-2356-6E00-680A-D1FD8E5A1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37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  <p:bldP spid="40" grpId="0"/>
      <p:bldP spid="43" grpId="0"/>
      <p:bldP spid="46" grpId="0"/>
      <p:bldP spid="49" grpId="0"/>
      <p:bldP spid="52" grpId="0"/>
      <p:bldP spid="55" grpId="0"/>
      <p:bldP spid="58" grpId="0"/>
      <p:bldP spid="61" grpId="0"/>
      <p:bldP spid="64" grpId="0"/>
      <p:bldP spid="67" grpId="0"/>
      <p:bldP spid="7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D3403-A20D-E82E-F4A8-40D8861D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0426EE-04AA-D75F-B3C5-0FB0E6CBD1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6559EF-A721-1E83-0D5F-3B0A70E0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6220" y="0"/>
            <a:ext cx="3476491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6F0AF-5B9A-975A-97CB-5EB700B130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727"/>
          <a:stretch>
            <a:fillRect/>
          </a:stretch>
        </p:blipFill>
        <p:spPr>
          <a:xfrm>
            <a:off x="3215380" y="931593"/>
            <a:ext cx="5758169" cy="46141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3D2A6F-A011-5302-8233-F436F8A8C4DA}"/>
              </a:ext>
            </a:extLst>
          </p:cNvPr>
          <p:cNvSpPr txBox="1"/>
          <p:nvPr/>
        </p:nvSpPr>
        <p:spPr>
          <a:xfrm>
            <a:off x="3900255" y="5526297"/>
            <a:ext cx="4388417" cy="400110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3.63%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C42E9CE-7C8E-AFA7-373F-56B9A5493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55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18222-A2AE-83D5-AD09-85989F941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3F10E3C-BE07-1112-0B01-DF8779097ABC}"/>
              </a:ext>
            </a:extLst>
          </p:cNvPr>
          <p:cNvSpPr txBox="1"/>
          <p:nvPr/>
        </p:nvSpPr>
        <p:spPr>
          <a:xfrm>
            <a:off x="408960" y="5316359"/>
            <a:ext cx="3812761" cy="338554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3.63%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5D17B7-020F-BD8D-85C0-47854BD018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FA4870-ADC3-6757-7929-B85E0628CE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313"/>
          <a:stretch>
            <a:fillRect/>
          </a:stretch>
        </p:blipFill>
        <p:spPr>
          <a:xfrm>
            <a:off x="387010" y="2226146"/>
            <a:ext cx="3837096" cy="3090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9AF7B6-976A-E78A-4EF6-4166F7D217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3068" y="0"/>
            <a:ext cx="12188932" cy="685799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pic>
      <p:pic>
        <p:nvPicPr>
          <p:cNvPr id="10" name="!!MOVE THIS">
            <a:extLst>
              <a:ext uri="{FF2B5EF4-FFF2-40B4-BE49-F238E27FC236}">
                <a16:creationId xmlns:a16="http://schemas.microsoft.com/office/drawing/2014/main" id="{CBC5BC2F-BEA0-0D23-D912-1F2C1AC813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b="17541"/>
          <a:stretch>
            <a:fillRect/>
          </a:stretch>
        </p:blipFill>
        <p:spPr>
          <a:xfrm>
            <a:off x="3328087" y="1083011"/>
            <a:ext cx="5532756" cy="44026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13A839-AEC7-B91A-237A-DD33EAF17E63}"/>
              </a:ext>
            </a:extLst>
          </p:cNvPr>
          <p:cNvSpPr txBox="1"/>
          <p:nvPr/>
        </p:nvSpPr>
        <p:spPr>
          <a:xfrm>
            <a:off x="3772942" y="5487009"/>
            <a:ext cx="4643045" cy="400110"/>
          </a:xfrm>
          <a:prstGeom prst="rect">
            <a:avLst/>
          </a:prstGeom>
          <a:solidFill>
            <a:srgbClr val="CC0000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regression – 13.61%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A934E6-8B67-A49F-ACDA-F8FA3863D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3C002F-0FFF-AF7D-79D9-4BF30BDC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6220" y="124425"/>
            <a:ext cx="3476491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5578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D388C-CB52-1872-5891-1B799EFB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381ED80-113A-0CCB-6A50-98036A6B40F9}"/>
              </a:ext>
            </a:extLst>
          </p:cNvPr>
          <p:cNvSpPr txBox="1"/>
          <p:nvPr/>
        </p:nvSpPr>
        <p:spPr>
          <a:xfrm>
            <a:off x="408960" y="5316359"/>
            <a:ext cx="3812761" cy="338554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3.63%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F026E0-0051-7611-6AAB-BAD6BD08CE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FD22C8-F628-4426-1814-3EC35C54C4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313"/>
          <a:stretch>
            <a:fillRect/>
          </a:stretch>
        </p:blipFill>
        <p:spPr>
          <a:xfrm>
            <a:off x="387010" y="2226146"/>
            <a:ext cx="3837096" cy="3090213"/>
          </a:xfrm>
          <a:prstGeom prst="rect">
            <a:avLst/>
          </a:prstGeom>
        </p:spPr>
      </p:pic>
      <p:pic>
        <p:nvPicPr>
          <p:cNvPr id="10" name="!!MOVE THIS">
            <a:extLst>
              <a:ext uri="{FF2B5EF4-FFF2-40B4-BE49-F238E27FC236}">
                <a16:creationId xmlns:a16="http://schemas.microsoft.com/office/drawing/2014/main" id="{6B2350BC-4CC7-E871-DAE5-B8A096302C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541"/>
          <a:stretch>
            <a:fillRect/>
          </a:stretch>
        </p:blipFill>
        <p:spPr>
          <a:xfrm>
            <a:off x="7896748" y="2226146"/>
            <a:ext cx="3923859" cy="31223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4EC7408-4C4D-BEE8-8823-A9915530873D}"/>
              </a:ext>
            </a:extLst>
          </p:cNvPr>
          <p:cNvSpPr txBox="1"/>
          <p:nvPr/>
        </p:nvSpPr>
        <p:spPr>
          <a:xfrm>
            <a:off x="7896749" y="5348515"/>
            <a:ext cx="3923860" cy="338554"/>
          </a:xfrm>
          <a:prstGeom prst="rect">
            <a:avLst/>
          </a:prstGeom>
          <a:solidFill>
            <a:srgbClr val="CC0000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regression – 13.61%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42A4F0-9402-1EBA-CBFB-B657880C90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3068" y="0"/>
            <a:ext cx="12188932" cy="685799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C54FE1-A3D6-6613-01D6-8F9E976694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572020-6A21-0E27-1919-0FEFF2071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6220" y="124425"/>
            <a:ext cx="3476491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0E9F2D-CE0D-BF74-1253-F0278FD05D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8638"/>
          <a:stretch>
            <a:fillRect/>
          </a:stretch>
        </p:blipFill>
        <p:spPr>
          <a:xfrm>
            <a:off x="3265513" y="1070730"/>
            <a:ext cx="5651770" cy="4528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D246B2-6628-F1E1-F0E4-DB58E6E0BAF0}"/>
              </a:ext>
            </a:extLst>
          </p:cNvPr>
          <p:cNvSpPr txBox="1"/>
          <p:nvPr/>
        </p:nvSpPr>
        <p:spPr>
          <a:xfrm>
            <a:off x="3863786" y="5600989"/>
            <a:ext cx="4462046" cy="400110"/>
          </a:xfrm>
          <a:prstGeom prst="rect">
            <a:avLst/>
          </a:prstGeom>
          <a:solidFill>
            <a:srgbClr val="FF9933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 – 3.76%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912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A545-91C0-9BA9-58B2-D6C282C5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610739-B554-F0EE-DA0E-F64EA9D912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14EA23-280F-D8D5-F6F8-94FF7F0D53CD}"/>
              </a:ext>
            </a:extLst>
          </p:cNvPr>
          <p:cNvSpPr txBox="1"/>
          <p:nvPr/>
        </p:nvSpPr>
        <p:spPr>
          <a:xfrm>
            <a:off x="408257" y="4985960"/>
            <a:ext cx="3812761" cy="338554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3.63%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D19FE1-802E-C6AF-0188-C796C0876185}"/>
              </a:ext>
            </a:extLst>
          </p:cNvPr>
          <p:cNvSpPr txBox="1"/>
          <p:nvPr/>
        </p:nvSpPr>
        <p:spPr>
          <a:xfrm>
            <a:off x="8032096" y="5004832"/>
            <a:ext cx="3770888" cy="338554"/>
          </a:xfrm>
          <a:prstGeom prst="rect">
            <a:avLst/>
          </a:prstGeom>
          <a:solidFill>
            <a:srgbClr val="CC0000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regression – 13.61%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5FCB5-6B16-994A-6BF0-74E7B8A4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727"/>
          <a:stretch>
            <a:fillRect/>
          </a:stretch>
        </p:blipFill>
        <p:spPr>
          <a:xfrm>
            <a:off x="408257" y="1961459"/>
            <a:ext cx="3794563" cy="3040665"/>
          </a:xfrm>
          <a:prstGeom prst="rect">
            <a:avLst/>
          </a:prstGeom>
        </p:spPr>
      </p:pic>
      <p:pic>
        <p:nvPicPr>
          <p:cNvPr id="12" name="!!MOVE THIS">
            <a:extLst>
              <a:ext uri="{FF2B5EF4-FFF2-40B4-BE49-F238E27FC236}">
                <a16:creationId xmlns:a16="http://schemas.microsoft.com/office/drawing/2014/main" id="{5BA42017-10A8-54A8-666C-BE3C10A197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541"/>
          <a:stretch>
            <a:fillRect/>
          </a:stretch>
        </p:blipFill>
        <p:spPr>
          <a:xfrm>
            <a:off x="8015028" y="1965389"/>
            <a:ext cx="3805025" cy="30278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EF4EBF-4541-C9A3-9B4A-F6BF553195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638"/>
          <a:stretch>
            <a:fillRect/>
          </a:stretch>
        </p:blipFill>
        <p:spPr>
          <a:xfrm>
            <a:off x="4210556" y="1956458"/>
            <a:ext cx="3800802" cy="30456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127887-A377-FCB4-8D17-90741B002B2B}"/>
              </a:ext>
            </a:extLst>
          </p:cNvPr>
          <p:cNvSpPr txBox="1"/>
          <p:nvPr/>
        </p:nvSpPr>
        <p:spPr>
          <a:xfrm>
            <a:off x="4209553" y="4994115"/>
            <a:ext cx="3823547" cy="338554"/>
          </a:xfrm>
          <a:prstGeom prst="rect">
            <a:avLst/>
          </a:prstGeom>
          <a:solidFill>
            <a:srgbClr val="FF9933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 – 3.76%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0177AC-3E6F-A8BA-56B3-AA1BF14B56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83ECD1-3C0A-1CBD-A778-0BD3FA69C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831" y="508718"/>
            <a:ext cx="3377269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504F5-73E7-C503-5A42-F02913FA2BB8}"/>
              </a:ext>
            </a:extLst>
          </p:cNvPr>
          <p:cNvSpPr txBox="1"/>
          <p:nvPr/>
        </p:nvSpPr>
        <p:spPr>
          <a:xfrm>
            <a:off x="1270151" y="5527823"/>
            <a:ext cx="964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neural network gives an error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3.73%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thus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is the best for this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588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D18DA-0CDC-6549-6688-0256F45A8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61C513-C4C1-FD29-BC8F-FFA87C66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5321" cy="65660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30B637-1D99-658C-DBBE-FA0B3B2EB2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E12C04-07EA-EEF3-4CBD-90485F1D9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384" y="0"/>
            <a:ext cx="784548" cy="787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D2E8C0-9643-E569-DDF4-C0FC59121A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4982" r="-1" b="-1"/>
          <a:stretch>
            <a:fillRect/>
          </a:stretch>
        </p:blipFill>
        <p:spPr>
          <a:xfrm>
            <a:off x="0" y="0"/>
            <a:ext cx="12188932" cy="685799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599EF1-2F4A-BA17-4B65-5827A828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130" y="2766218"/>
            <a:ext cx="7295285" cy="1325563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Temperature rise data (from the Met Office)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338BE5-0382-DE07-CD4B-63F966B13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75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1221E-78B3-C9A0-7D51-8AA7F82E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402C22-0020-4CA2-DF4F-07D8EE459C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481506-ACBA-7126-8DFF-A10056CAC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8094" y="-1"/>
            <a:ext cx="12260094" cy="656425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52DB32B3-B9B3-A281-9C1B-CCCFDF36E04F}"/>
              </a:ext>
            </a:extLst>
          </p:cNvPr>
          <p:cNvSpPr txBox="1">
            <a:spLocks/>
          </p:cNvSpPr>
          <p:nvPr/>
        </p:nvSpPr>
        <p:spPr>
          <a:xfrm>
            <a:off x="6896910" y="5740593"/>
            <a:ext cx="499029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 neurons per hidden layer – 4.15%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77FC2C-5B3D-57CC-CACD-518CDD997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8094" y="-2"/>
            <a:ext cx="12257046" cy="655624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287430F-7771-4DD1-A29F-F2CA7458D654}"/>
              </a:ext>
            </a:extLst>
          </p:cNvPr>
          <p:cNvSpPr txBox="1">
            <a:spLocks/>
          </p:cNvSpPr>
          <p:nvPr/>
        </p:nvSpPr>
        <p:spPr>
          <a:xfrm>
            <a:off x="6896910" y="5734242"/>
            <a:ext cx="499029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 neurons per hidden layer – 4.87%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BB1395-F287-2E61-E708-1017BBD88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1142" y="-8019"/>
            <a:ext cx="12263142" cy="655950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67A1C81-1585-9CE3-73DB-9FC9FF23794E}"/>
              </a:ext>
            </a:extLst>
          </p:cNvPr>
          <p:cNvSpPr txBox="1">
            <a:spLocks/>
          </p:cNvSpPr>
          <p:nvPr/>
        </p:nvSpPr>
        <p:spPr>
          <a:xfrm>
            <a:off x="6896910" y="5734242"/>
            <a:ext cx="499029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 neurons per hidden layer –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1.54% error</a:t>
            </a:r>
            <a:endParaRPr lang="en-GB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3B9F03-EDD2-A117-8202-F8CD128585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1142" y="-1"/>
            <a:ext cx="12257046" cy="655624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EEB1800-206C-7ED9-6FFE-7B55AC6F29DF}"/>
              </a:ext>
            </a:extLst>
          </p:cNvPr>
          <p:cNvSpPr txBox="1">
            <a:spLocks/>
          </p:cNvSpPr>
          <p:nvPr/>
        </p:nvSpPr>
        <p:spPr>
          <a:xfrm>
            <a:off x="7026417" y="5723455"/>
            <a:ext cx="4860783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neurons per hidden layer – 2.66% error</a:t>
            </a:r>
            <a:endParaRPr lang="en-GB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3D011B-5946-739C-29EA-B1959CE69D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4191" y="-12776"/>
            <a:ext cx="12257045" cy="655624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5A4997C-5232-0FD2-5D71-779A1488B3DA}"/>
              </a:ext>
            </a:extLst>
          </p:cNvPr>
          <p:cNvSpPr txBox="1">
            <a:spLocks/>
          </p:cNvSpPr>
          <p:nvPr/>
        </p:nvSpPr>
        <p:spPr>
          <a:xfrm>
            <a:off x="7026417" y="5729841"/>
            <a:ext cx="499029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neurons per hidden layer – 12.46% error</a:t>
            </a:r>
            <a:endParaRPr lang="en-GB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6B7C806-0884-8DDF-FAD0-526BDC70E6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4192" y="-3"/>
            <a:ext cx="12257045" cy="6562626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A14447CB-C4B9-5083-AF93-440EF11AA7CE}"/>
              </a:ext>
            </a:extLst>
          </p:cNvPr>
          <p:cNvSpPr txBox="1">
            <a:spLocks/>
          </p:cNvSpPr>
          <p:nvPr/>
        </p:nvSpPr>
        <p:spPr>
          <a:xfrm>
            <a:off x="7026417" y="5723455"/>
            <a:ext cx="499029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neurons per hidden layer – 12.14% error</a:t>
            </a:r>
            <a:endParaRPr lang="en-GB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EF3A322-4D70-3C56-472F-F781031F81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3338" y="-19159"/>
            <a:ext cx="12275338" cy="6572421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4D8692DC-5B60-2242-B637-1EA3AF7EF9E1}"/>
              </a:ext>
            </a:extLst>
          </p:cNvPr>
          <p:cNvSpPr txBox="1">
            <a:spLocks/>
          </p:cNvSpPr>
          <p:nvPr/>
        </p:nvSpPr>
        <p:spPr>
          <a:xfrm>
            <a:off x="7155924" y="5729840"/>
            <a:ext cx="499029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neurons per hidden layer – 7.49% error</a:t>
            </a:r>
            <a:endParaRPr lang="en-GB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42427AC-2ED6-E195-F7E0-2037C08FF3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83340" y="-30156"/>
            <a:ext cx="12275339" cy="657242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9D2420F1-D64E-DCED-BF88-7E0486BAD958}"/>
              </a:ext>
            </a:extLst>
          </p:cNvPr>
          <p:cNvSpPr txBox="1">
            <a:spLocks/>
          </p:cNvSpPr>
          <p:nvPr/>
        </p:nvSpPr>
        <p:spPr>
          <a:xfrm>
            <a:off x="7155923" y="5718844"/>
            <a:ext cx="499029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neurons per hidden layer – 4.74% error</a:t>
            </a:r>
            <a:endParaRPr lang="en-GB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8FB5E21-29FD-8ECB-8A2F-8D99C34894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3342" y="-23772"/>
            <a:ext cx="12275321" cy="658519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97E5E6B7-E6E7-0CEE-6CA1-3DB6B25595BE}"/>
              </a:ext>
            </a:extLst>
          </p:cNvPr>
          <p:cNvSpPr txBox="1">
            <a:spLocks/>
          </p:cNvSpPr>
          <p:nvPr/>
        </p:nvSpPr>
        <p:spPr>
          <a:xfrm>
            <a:off x="7165069" y="5717209"/>
            <a:ext cx="499029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neurons per hidden layer – 9.66% error</a:t>
            </a:r>
            <a:endParaRPr lang="en-GB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5AFB63C-192C-0C93-74B2-77FD3817D09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3363" y="0"/>
            <a:ext cx="12275321" cy="6566018"/>
          </a:xfrm>
          <a:prstGeom prst="rect">
            <a:avLst/>
          </a:prstGeom>
        </p:spPr>
      </p:pic>
      <p:sp>
        <p:nvSpPr>
          <p:cNvPr id="38" name="Title 1">
            <a:extLst>
              <a:ext uri="{FF2B5EF4-FFF2-40B4-BE49-F238E27FC236}">
                <a16:creationId xmlns:a16="http://schemas.microsoft.com/office/drawing/2014/main" id="{F79CBA8B-6831-76CF-6527-8C7A58DD1C33}"/>
              </a:ext>
            </a:extLst>
          </p:cNvPr>
          <p:cNvSpPr txBox="1">
            <a:spLocks/>
          </p:cNvSpPr>
          <p:nvPr/>
        </p:nvSpPr>
        <p:spPr>
          <a:xfrm>
            <a:off x="7257316" y="5704087"/>
            <a:ext cx="499029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neuron per hidden layer – 20.45% error</a:t>
            </a:r>
            <a:endParaRPr lang="en-GB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11BDC61-E647-C216-F23E-F3D5878B066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36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  <p:bldP spid="17" grpId="0"/>
      <p:bldP spid="21" grpId="0"/>
      <p:bldP spid="24" grpId="0"/>
      <p:bldP spid="27" grpId="0"/>
      <p:bldP spid="30" grpId="0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7313D-871D-D917-3156-70CA0760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448252-3895-171A-E282-AE70FDFFE2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9EDC15-F9E3-8BCA-5D12-DF189F7D4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012" y="-11551"/>
            <a:ext cx="51129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rise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3123A-9D95-C142-F5E6-733B35518607}"/>
              </a:ext>
            </a:extLst>
          </p:cNvPr>
          <p:cNvSpPr txBox="1"/>
          <p:nvPr/>
        </p:nvSpPr>
        <p:spPr>
          <a:xfrm>
            <a:off x="3900254" y="5526297"/>
            <a:ext cx="4388417" cy="400110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2.03%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0A2F556-B2DD-CF94-45E1-41705601D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C14ED9-BD3A-F28A-C138-023976F0E5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554"/>
          <a:stretch>
            <a:fillRect/>
          </a:stretch>
        </p:blipFill>
        <p:spPr>
          <a:xfrm>
            <a:off x="3156850" y="1051341"/>
            <a:ext cx="5875226" cy="447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614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EE490-0F62-5367-30EE-471A2964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5DC7A6-92B3-7829-F96D-140FCDA002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D35B4B-008D-7B07-40BE-A7E0EB5BD04B}"/>
              </a:ext>
            </a:extLst>
          </p:cNvPr>
          <p:cNvSpPr txBox="1"/>
          <p:nvPr/>
        </p:nvSpPr>
        <p:spPr>
          <a:xfrm>
            <a:off x="363015" y="5354977"/>
            <a:ext cx="4187530" cy="338554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2.03%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5C120E-5F99-9E7F-328F-FC092687EF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554"/>
          <a:stretch>
            <a:fillRect/>
          </a:stretch>
        </p:blipFill>
        <p:spPr>
          <a:xfrm>
            <a:off x="363014" y="2153919"/>
            <a:ext cx="4187531" cy="3189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AB2A70-0622-DA44-B351-5B6F242591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3068" y="0"/>
            <a:ext cx="12188932" cy="685799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pic>
      <p:pic>
        <p:nvPicPr>
          <p:cNvPr id="5" name="!!Picture 4">
            <a:extLst>
              <a:ext uri="{FF2B5EF4-FFF2-40B4-BE49-F238E27FC236}">
                <a16:creationId xmlns:a16="http://schemas.microsoft.com/office/drawing/2014/main" id="{F0B45FE2-9FF7-5F97-938D-26604AC58E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898"/>
          <a:stretch>
            <a:fillRect/>
          </a:stretch>
        </p:blipFill>
        <p:spPr>
          <a:xfrm>
            <a:off x="3121671" y="1132112"/>
            <a:ext cx="5859769" cy="44674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9452B8-708F-E7C0-8751-67A594D5F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50F47A-71F6-8E25-E1B8-D680AAAF1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013" y="-11551"/>
            <a:ext cx="51129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rise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DA54D-4E29-7335-7F62-3600F63B61B8}"/>
              </a:ext>
            </a:extLst>
          </p:cNvPr>
          <p:cNvSpPr txBox="1"/>
          <p:nvPr/>
        </p:nvSpPr>
        <p:spPr>
          <a:xfrm>
            <a:off x="3847566" y="5613650"/>
            <a:ext cx="4496867" cy="400110"/>
          </a:xfrm>
          <a:prstGeom prst="rect">
            <a:avLst/>
          </a:prstGeom>
          <a:solidFill>
            <a:srgbClr val="CC0000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regression – 37.03%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840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4A85-DCEF-1FCB-1A34-19DDB51A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9ACA5F-349F-6AB9-4BC2-396F7B5570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1FF5AC-DED7-3573-02E9-7394B2972321}"/>
              </a:ext>
            </a:extLst>
          </p:cNvPr>
          <p:cNvSpPr txBox="1"/>
          <p:nvPr/>
        </p:nvSpPr>
        <p:spPr>
          <a:xfrm>
            <a:off x="363015" y="5354977"/>
            <a:ext cx="4187530" cy="338554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2.03%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6E2FAB-431F-786B-41BA-51062772B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554"/>
          <a:stretch>
            <a:fillRect/>
          </a:stretch>
        </p:blipFill>
        <p:spPr>
          <a:xfrm>
            <a:off x="363014" y="2153919"/>
            <a:ext cx="4187531" cy="31894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38C6FF-9ED2-1E02-ADA3-48C0CA3AC43B}"/>
              </a:ext>
            </a:extLst>
          </p:cNvPr>
          <p:cNvSpPr txBox="1"/>
          <p:nvPr/>
        </p:nvSpPr>
        <p:spPr>
          <a:xfrm>
            <a:off x="7627932" y="5366528"/>
            <a:ext cx="4187530" cy="338554"/>
          </a:xfrm>
          <a:prstGeom prst="rect">
            <a:avLst/>
          </a:prstGeom>
          <a:solidFill>
            <a:srgbClr val="CC0000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regression – 37.03%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!!Picture 4">
            <a:extLst>
              <a:ext uri="{FF2B5EF4-FFF2-40B4-BE49-F238E27FC236}">
                <a16:creationId xmlns:a16="http://schemas.microsoft.com/office/drawing/2014/main" id="{09B4F00E-DACF-598B-46EA-32F2377C0C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898"/>
          <a:stretch>
            <a:fillRect/>
          </a:stretch>
        </p:blipFill>
        <p:spPr>
          <a:xfrm>
            <a:off x="7630287" y="2153919"/>
            <a:ext cx="4198698" cy="32010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218A5A-AF20-D3E1-C97E-C305892570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3068" y="0"/>
            <a:ext cx="12188932" cy="685799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CA7F3D-9B4F-B00E-BB6B-29C6C8AE1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6D7885-A033-7135-508D-9F809AD8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013" y="-11551"/>
            <a:ext cx="51129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rise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0E8398-9E7A-95FA-433F-80AA118A75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3389"/>
          <a:stretch>
            <a:fillRect/>
          </a:stretch>
        </p:blipFill>
        <p:spPr>
          <a:xfrm>
            <a:off x="2998659" y="1051318"/>
            <a:ext cx="5991969" cy="45420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335D8C-1DD6-F7D4-E9F5-F00EA04F24A6}"/>
              </a:ext>
            </a:extLst>
          </p:cNvPr>
          <p:cNvSpPr txBox="1"/>
          <p:nvPr/>
        </p:nvSpPr>
        <p:spPr>
          <a:xfrm>
            <a:off x="3822470" y="5593374"/>
            <a:ext cx="4336009" cy="400110"/>
          </a:xfrm>
          <a:prstGeom prst="rect">
            <a:avLst/>
          </a:prstGeom>
          <a:solidFill>
            <a:srgbClr val="FF9933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 – 7.11%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478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1D17-7410-9FF5-F982-B694D71C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438CA8-0F58-7374-CFA7-E784E0FFA7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76F8DA-4A9B-E344-62CC-C821B25FB0F7}"/>
              </a:ext>
            </a:extLst>
          </p:cNvPr>
          <p:cNvSpPr txBox="1"/>
          <p:nvPr/>
        </p:nvSpPr>
        <p:spPr>
          <a:xfrm>
            <a:off x="363015" y="4872920"/>
            <a:ext cx="3855035" cy="338554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2.03%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F5390D-8C0E-A9C6-32E1-EB1CE0CB15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554"/>
          <a:stretch>
            <a:fillRect/>
          </a:stretch>
        </p:blipFill>
        <p:spPr>
          <a:xfrm>
            <a:off x="363015" y="1950720"/>
            <a:ext cx="3836595" cy="2922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972E80-5B8F-A8DE-51F8-D647C76DCEDD}"/>
              </a:ext>
            </a:extLst>
          </p:cNvPr>
          <p:cNvSpPr txBox="1"/>
          <p:nvPr/>
        </p:nvSpPr>
        <p:spPr>
          <a:xfrm>
            <a:off x="8172002" y="4872920"/>
            <a:ext cx="3656983" cy="338554"/>
          </a:xfrm>
          <a:prstGeom prst="rect">
            <a:avLst/>
          </a:prstGeom>
          <a:solidFill>
            <a:srgbClr val="CC0000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regression – 37.03%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96C21D-C0E2-0067-998D-EA278BAAB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B4C069-CDB1-96F3-990E-84E62D992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012" y="482827"/>
            <a:ext cx="51129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rise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E2E68B-A4CA-F191-D2CC-C11EAD711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3389"/>
          <a:stretch>
            <a:fillRect/>
          </a:stretch>
        </p:blipFill>
        <p:spPr>
          <a:xfrm>
            <a:off x="4199610" y="1950720"/>
            <a:ext cx="3855035" cy="2922202"/>
          </a:xfrm>
          <a:prstGeom prst="rect">
            <a:avLst/>
          </a:prstGeom>
        </p:spPr>
      </p:pic>
      <p:pic>
        <p:nvPicPr>
          <p:cNvPr id="5" name="!!Picture 4">
            <a:extLst>
              <a:ext uri="{FF2B5EF4-FFF2-40B4-BE49-F238E27FC236}">
                <a16:creationId xmlns:a16="http://schemas.microsoft.com/office/drawing/2014/main" id="{84FCC0E7-1BE5-0229-5E16-6F6C32B47A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1898"/>
          <a:stretch>
            <a:fillRect/>
          </a:stretch>
        </p:blipFill>
        <p:spPr>
          <a:xfrm>
            <a:off x="7999662" y="1950717"/>
            <a:ext cx="3832935" cy="29222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B839E5-E82E-AEBF-D133-5E93E9FF9D32}"/>
              </a:ext>
            </a:extLst>
          </p:cNvPr>
          <p:cNvSpPr txBox="1"/>
          <p:nvPr/>
        </p:nvSpPr>
        <p:spPr>
          <a:xfrm>
            <a:off x="4218051" y="4872919"/>
            <a:ext cx="3950340" cy="338554"/>
          </a:xfrm>
          <a:prstGeom prst="rect">
            <a:avLst/>
          </a:prstGeom>
          <a:solidFill>
            <a:srgbClr val="FF9933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 – 7.11%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722DF-0D1E-30CF-5EE0-ACD8364280A3}"/>
              </a:ext>
            </a:extLst>
          </p:cNvPr>
          <p:cNvSpPr txBox="1"/>
          <p:nvPr/>
        </p:nvSpPr>
        <p:spPr>
          <a:xfrm>
            <a:off x="1458713" y="5496127"/>
            <a:ext cx="927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neural network gives an error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1.54%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thus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best for this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612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BE1AF-00D8-22FB-767C-95F5BA07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39AD89-010A-8B87-8324-5ED1CFC51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70" y="6351"/>
            <a:ext cx="12188932" cy="6526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5E2CAE-7CEB-898F-16AC-45059926F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384" y="0"/>
            <a:ext cx="784548" cy="787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B36A2D-F99A-0575-BE16-6556E6F43C1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24982" r="-1" b="-1"/>
          <a:stretch>
            <a:fillRect/>
          </a:stretch>
        </p:blipFill>
        <p:spPr>
          <a:xfrm>
            <a:off x="-9208" y="6351"/>
            <a:ext cx="12188932" cy="685799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7B577C-BFEA-35C1-C762-822594122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130" y="2766218"/>
            <a:ext cx="7295285" cy="1325563"/>
          </a:xfrm>
        </p:spPr>
        <p:txBody>
          <a:bodyPr/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Stellar light curve data 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(from NASA)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3AD3EBE-B93A-1CA7-7AF3-FB7D76707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82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C627D-FB97-A52F-C145-13C2D3A8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63E259-7A6C-F578-BFF2-D472F73B4A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4982" r="-1" b="-1"/>
          <a:stretch>
            <a:fillRect/>
          </a:stretch>
        </p:blipFill>
        <p:spPr>
          <a:xfrm>
            <a:off x="3068" y="-12691"/>
            <a:ext cx="12188932" cy="6857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7EA58E-DAC0-5D0E-8A10-0A5C72B53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1"/>
            <a:ext cx="12192001" cy="6515100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7ED9BA32-E842-66BD-528F-1ED40A1B6964}"/>
              </a:ext>
            </a:extLst>
          </p:cNvPr>
          <p:cNvSpPr txBox="1">
            <a:spLocks/>
          </p:cNvSpPr>
          <p:nvPr/>
        </p:nvSpPr>
        <p:spPr>
          <a:xfrm>
            <a:off x="7075814" y="5740594"/>
            <a:ext cx="499029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functions – 9.48%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B9144-B12D-F2F1-3099-D4BB054AD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9"/>
            <a:ext cx="12188932" cy="6519809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6CC4CF8-5F74-C997-A0DC-2736F92F5D3F}"/>
              </a:ext>
            </a:extLst>
          </p:cNvPr>
          <p:cNvSpPr txBox="1">
            <a:spLocks/>
          </p:cNvSpPr>
          <p:nvPr/>
        </p:nvSpPr>
        <p:spPr>
          <a:xfrm>
            <a:off x="6839107" y="5734253"/>
            <a:ext cx="5067548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activation functions – 10.40%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3D3428F-E351-AAE8-7CCD-2E64D3EB7A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070" y="6351"/>
            <a:ext cx="12188932" cy="6526158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FAC5D1FC-406A-D091-0271-BFF3C6AFD167}"/>
              </a:ext>
            </a:extLst>
          </p:cNvPr>
          <p:cNvSpPr txBox="1">
            <a:spLocks/>
          </p:cNvSpPr>
          <p:nvPr/>
        </p:nvSpPr>
        <p:spPr>
          <a:xfrm>
            <a:off x="7163363" y="5745303"/>
            <a:ext cx="4587650" cy="78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Tanh activation functions – 9.58%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EC14C65-92EC-F682-19DA-B43ACE9AF6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46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02633-050E-23D6-AE55-FF686EE7D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DD9B43-4132-4024-4914-930C8B7519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9FCE4A-4A26-9E40-FAF6-48E1C1D4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663" y="0"/>
            <a:ext cx="5349606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Stellar light curve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814323-2932-E0EB-3217-45D85D377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B5214F-428A-B3B0-0807-3B72B51BDE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5" t="3480" r="2060" b="13973"/>
          <a:stretch>
            <a:fillRect/>
          </a:stretch>
        </p:blipFill>
        <p:spPr>
          <a:xfrm>
            <a:off x="3305789" y="1069094"/>
            <a:ext cx="5580421" cy="4448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E81ABC-A574-FD77-3032-9472B8C1717C}"/>
              </a:ext>
            </a:extLst>
          </p:cNvPr>
          <p:cNvSpPr txBox="1"/>
          <p:nvPr/>
        </p:nvSpPr>
        <p:spPr>
          <a:xfrm>
            <a:off x="3881053" y="5517419"/>
            <a:ext cx="4426825" cy="400110"/>
          </a:xfrm>
          <a:prstGeom prst="rect">
            <a:avLst/>
          </a:prstGeom>
          <a:solidFill>
            <a:srgbClr val="CC0000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 – 9.48%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632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B8346-D65A-8447-D207-91D8FBAB7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ADB7F1-33D1-CBCF-261F-766A51A630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7F1EE1-74E5-2C5D-B188-D7F7FE24D2E2}"/>
              </a:ext>
            </a:extLst>
          </p:cNvPr>
          <p:cNvSpPr txBox="1"/>
          <p:nvPr/>
        </p:nvSpPr>
        <p:spPr>
          <a:xfrm>
            <a:off x="7780155" y="5171979"/>
            <a:ext cx="4019571" cy="338554"/>
          </a:xfrm>
          <a:prstGeom prst="rect">
            <a:avLst/>
          </a:prstGeom>
          <a:solidFill>
            <a:srgbClr val="CC0000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 – 9.48%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46FC1-1DD1-68F4-1550-98E61C0FC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" t="3480" r="2060" b="13973"/>
          <a:stretch>
            <a:fillRect/>
          </a:stretch>
        </p:blipFill>
        <p:spPr>
          <a:xfrm>
            <a:off x="7780155" y="1967855"/>
            <a:ext cx="4019571" cy="32041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9B2455-E78C-CDC4-B3C3-E25E32A190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-3068" y="0"/>
            <a:ext cx="12188932" cy="685799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ECAEC7-89AB-BF96-162F-5E7E524FD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D55F40-CC18-67A2-29C8-4A6EAF44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663" y="0"/>
            <a:ext cx="5349606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Stellar light curve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!!Picture 6">
            <a:extLst>
              <a:ext uri="{FF2B5EF4-FFF2-40B4-BE49-F238E27FC236}">
                <a16:creationId xmlns:a16="http://schemas.microsoft.com/office/drawing/2014/main" id="{B0B2CB94-CED8-A0B5-16AD-4A9A728F0E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450" b="19890"/>
          <a:stretch>
            <a:fillRect/>
          </a:stretch>
        </p:blipFill>
        <p:spPr>
          <a:xfrm>
            <a:off x="3263950" y="1078539"/>
            <a:ext cx="5654893" cy="4431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98C292-D84D-F6BB-DA25-9D463C4594CC}"/>
              </a:ext>
            </a:extLst>
          </p:cNvPr>
          <p:cNvSpPr txBox="1"/>
          <p:nvPr/>
        </p:nvSpPr>
        <p:spPr>
          <a:xfrm>
            <a:off x="3858887" y="5510533"/>
            <a:ext cx="4465018" cy="400110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3.00%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788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2DBC-90F3-9189-6000-87F9F9A4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14526E-DF7A-EBD5-B2F7-35E8C85267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1E5348-7488-6980-71BA-25B030134A97}"/>
              </a:ext>
            </a:extLst>
          </p:cNvPr>
          <p:cNvSpPr txBox="1"/>
          <p:nvPr/>
        </p:nvSpPr>
        <p:spPr>
          <a:xfrm>
            <a:off x="7780155" y="5171979"/>
            <a:ext cx="4019571" cy="338554"/>
          </a:xfrm>
          <a:prstGeom prst="rect">
            <a:avLst/>
          </a:prstGeom>
          <a:solidFill>
            <a:srgbClr val="CC0000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 – 9.48%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55126-F781-F47C-414E-22B9737B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" t="3480" r="2060" b="13973"/>
          <a:stretch>
            <a:fillRect/>
          </a:stretch>
        </p:blipFill>
        <p:spPr>
          <a:xfrm>
            <a:off x="7780155" y="1967855"/>
            <a:ext cx="4019571" cy="32041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AB4E9A-A99A-D662-C204-0499FD7403EE}"/>
              </a:ext>
            </a:extLst>
          </p:cNvPr>
          <p:cNvSpPr txBox="1"/>
          <p:nvPr/>
        </p:nvSpPr>
        <p:spPr>
          <a:xfrm>
            <a:off x="392274" y="5171979"/>
            <a:ext cx="4088223" cy="338554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3.00%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!!Picture 6">
            <a:extLst>
              <a:ext uri="{FF2B5EF4-FFF2-40B4-BE49-F238E27FC236}">
                <a16:creationId xmlns:a16="http://schemas.microsoft.com/office/drawing/2014/main" id="{CF61FAF2-D9CA-426F-452D-38C20DDF9B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50" b="19890"/>
          <a:stretch>
            <a:fillRect/>
          </a:stretch>
        </p:blipFill>
        <p:spPr>
          <a:xfrm>
            <a:off x="392274" y="1967855"/>
            <a:ext cx="4088223" cy="32041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983E82-B143-7235-9399-A56CE4EEDB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-3068" y="0"/>
            <a:ext cx="12188932" cy="6857990"/>
          </a:xfrm>
          <a:prstGeom prst="rect">
            <a:avLst/>
          </a:prstGeom>
          <a:solidFill>
            <a:srgbClr val="000000">
              <a:alpha val="20000"/>
            </a:srgbClr>
          </a:solid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92EB47-C769-FA04-B910-6AD808F3A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E14F58-6E73-6548-B765-608A815B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663" y="0"/>
            <a:ext cx="5349606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Stellar light curve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8B2232-36EE-55E7-29EC-3469A2D682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167" b="19833"/>
          <a:stretch>
            <a:fillRect/>
          </a:stretch>
        </p:blipFill>
        <p:spPr>
          <a:xfrm>
            <a:off x="3212926" y="1039816"/>
            <a:ext cx="5756943" cy="4470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C542B9-9580-38CE-2ADD-547E11B41BF2}"/>
              </a:ext>
            </a:extLst>
          </p:cNvPr>
          <p:cNvSpPr txBox="1"/>
          <p:nvPr/>
        </p:nvSpPr>
        <p:spPr>
          <a:xfrm>
            <a:off x="3795123" y="5510533"/>
            <a:ext cx="4592547" cy="400110"/>
          </a:xfrm>
          <a:prstGeom prst="rect">
            <a:avLst/>
          </a:prstGeom>
          <a:solidFill>
            <a:srgbClr val="FF9933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regression – 7.48% error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901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3C0D-9277-8453-460D-EFB27D14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B549D5-3AF2-41A3-E4E9-FA6776A27A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9E8E1F-88D1-C926-F1C0-6F51608ECE80}"/>
              </a:ext>
            </a:extLst>
          </p:cNvPr>
          <p:cNvSpPr txBox="1"/>
          <p:nvPr/>
        </p:nvSpPr>
        <p:spPr>
          <a:xfrm>
            <a:off x="7954423" y="4939203"/>
            <a:ext cx="3842236" cy="338554"/>
          </a:xfrm>
          <a:prstGeom prst="rect">
            <a:avLst/>
          </a:prstGeom>
          <a:solidFill>
            <a:srgbClr val="CC0000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 – 9.48%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41BE8-85DA-AB83-A38F-19C0521FA0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" t="3480" r="2060" b="13973"/>
          <a:stretch>
            <a:fillRect/>
          </a:stretch>
        </p:blipFill>
        <p:spPr>
          <a:xfrm>
            <a:off x="7954422" y="1967855"/>
            <a:ext cx="3714242" cy="29607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BD2BF7-3466-6DF1-921A-7B171E401640}"/>
              </a:ext>
            </a:extLst>
          </p:cNvPr>
          <p:cNvSpPr txBox="1"/>
          <p:nvPr/>
        </p:nvSpPr>
        <p:spPr>
          <a:xfrm>
            <a:off x="395342" y="4939203"/>
            <a:ext cx="3781380" cy="338554"/>
          </a:xfrm>
          <a:prstGeom prst="rect">
            <a:avLst/>
          </a:prstGeom>
          <a:solidFill>
            <a:srgbClr val="008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– 3.00%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!!Picture 6">
            <a:extLst>
              <a:ext uri="{FF2B5EF4-FFF2-40B4-BE49-F238E27FC236}">
                <a16:creationId xmlns:a16="http://schemas.microsoft.com/office/drawing/2014/main" id="{6AE34C13-CCE9-67A0-FC33-13F2E4445F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50" b="19890"/>
          <a:stretch>
            <a:fillRect/>
          </a:stretch>
        </p:blipFill>
        <p:spPr>
          <a:xfrm>
            <a:off x="392274" y="1967855"/>
            <a:ext cx="3784448" cy="29660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588352-B956-5B69-192D-5C28144A6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081CA4-4371-1FCE-AC4B-BEAFDD7B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663" y="524949"/>
            <a:ext cx="5349606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Stellar light curve data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7CCDC5-01F1-A7E3-6C05-D353AD212E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167" b="19833"/>
          <a:stretch>
            <a:fillRect/>
          </a:stretch>
        </p:blipFill>
        <p:spPr>
          <a:xfrm>
            <a:off x="4138831" y="1962549"/>
            <a:ext cx="3819373" cy="29660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4A5850-DC13-AC82-4E7F-8132C65DB274}"/>
              </a:ext>
            </a:extLst>
          </p:cNvPr>
          <p:cNvSpPr txBox="1"/>
          <p:nvPr/>
        </p:nvSpPr>
        <p:spPr>
          <a:xfrm>
            <a:off x="4176722" y="4939203"/>
            <a:ext cx="3774633" cy="338554"/>
          </a:xfrm>
          <a:prstGeom prst="rect">
            <a:avLst/>
          </a:prstGeom>
          <a:solidFill>
            <a:srgbClr val="FF9933">
              <a:alpha val="5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regression – 7.48% error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2CCCCE-96CA-5B4E-1B9F-A47719B6090B}"/>
              </a:ext>
            </a:extLst>
          </p:cNvPr>
          <p:cNvSpPr txBox="1"/>
          <p:nvPr/>
        </p:nvSpPr>
        <p:spPr>
          <a:xfrm>
            <a:off x="879921" y="5501830"/>
            <a:ext cx="1042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gives the smallest 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this dataset, compared to neural networks with small iterations.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818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C9993-786F-182E-9C55-9A99AB02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7E345BE-8851-B09E-65E3-28F1F6003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lack">
            <a:extLst>
              <a:ext uri="{FF2B5EF4-FFF2-40B4-BE49-F238E27FC236}">
                <a16:creationId xmlns:a16="http://schemas.microsoft.com/office/drawing/2014/main" id="{F6B81C08-B422-3E2E-4A13-37F9EAA87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977D5-CBFC-37DC-3F49-0B4557846E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3" name="Main Frame">
            <a:extLst>
              <a:ext uri="{FF2B5EF4-FFF2-40B4-BE49-F238E27FC236}">
                <a16:creationId xmlns:a16="http://schemas.microsoft.com/office/drawing/2014/main" id="{08666CAC-D2D3-3AA5-EBAE-A99D8F1D1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C6DB8B-686C-2212-786A-EFC4F141D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117" y="2778909"/>
            <a:ext cx="8170037" cy="1066780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  <a:t>Future development</a:t>
            </a:r>
            <a:endParaRPr lang="en-GB" dirty="0">
              <a:solidFill>
                <a:srgbClr val="FFFFFF"/>
              </a:solidFill>
              <a:latin typeface="Aptos Black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Main Horizontal Connector">
            <a:extLst>
              <a:ext uri="{FF2B5EF4-FFF2-40B4-BE49-F238E27FC236}">
                <a16:creationId xmlns:a16="http://schemas.microsoft.com/office/drawing/2014/main" id="{99A8310B-0289-293C-2071-BE6C11293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Main Vertical Connector">
            <a:extLst>
              <a:ext uri="{FF2B5EF4-FFF2-40B4-BE49-F238E27FC236}">
                <a16:creationId xmlns:a16="http://schemas.microsoft.com/office/drawing/2014/main" id="{D22B60B9-44FA-551F-C7E7-93B63FB4B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88DC6B9-7A4F-5F8C-72AD-FFAAFB791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62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A51EB-7E7D-4A25-5F2B-3DED62225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422168-F583-448F-4F16-6DF42E66BF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7DCD01-39E9-9574-23C2-899CC57B9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088" y="182880"/>
            <a:ext cx="94890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</a:t>
            </a:r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89514-B61F-383F-68F6-994B233A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325563"/>
            <a:ext cx="10509504" cy="3747384"/>
          </a:xfrm>
        </p:spPr>
        <p:txBody>
          <a:bodyPr/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custom datasets to be uploaded to use in the program.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models to be saved – for future use.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directional accuracy, lookback windows, and other advanced methods.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the program to classify images.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efficiency of the NASA light curve dataset with the program.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1B952-AF55-C15C-075F-1972705E0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060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0B67C-A2DD-75B4-5837-5ED23418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3C2EFB06-9A79-3D0C-4BED-B7A486934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lack">
            <a:extLst>
              <a:ext uri="{FF2B5EF4-FFF2-40B4-BE49-F238E27FC236}">
                <a16:creationId xmlns:a16="http://schemas.microsoft.com/office/drawing/2014/main" id="{348C85B5-C152-5946-2DE3-C7289C716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6DF49C-EC86-0C04-60C8-B2550FF8E1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3" name="Main Frame">
            <a:extLst>
              <a:ext uri="{FF2B5EF4-FFF2-40B4-BE49-F238E27FC236}">
                <a16:creationId xmlns:a16="http://schemas.microsoft.com/office/drawing/2014/main" id="{FD3726AB-1C9E-D083-D9C2-40665D468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4B7A7-0FF7-1F43-F225-10469902D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931" y="3418332"/>
            <a:ext cx="8170037" cy="1066780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  <a:t>Thank you for listening.</a:t>
            </a:r>
            <a:b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FF"/>
                </a:solidFill>
                <a:latin typeface="Aptos Black" panose="020B0004020202020204" pitchFamily="34" charset="0"/>
                <a:cs typeface="Times New Roman" panose="02020603050405020304" pitchFamily="18" charset="0"/>
              </a:rPr>
              <a:t>Any questions?</a:t>
            </a:r>
            <a:endParaRPr lang="en-GB" dirty="0">
              <a:solidFill>
                <a:srgbClr val="FFFFFF"/>
              </a:solidFill>
              <a:latin typeface="Aptos Black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Main Horizontal Connector">
            <a:extLst>
              <a:ext uri="{FF2B5EF4-FFF2-40B4-BE49-F238E27FC236}">
                <a16:creationId xmlns:a16="http://schemas.microsoft.com/office/drawing/2014/main" id="{E2CD93DF-2AF6-AC29-30A8-EF57868D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Main Vertical Connector">
            <a:extLst>
              <a:ext uri="{FF2B5EF4-FFF2-40B4-BE49-F238E27FC236}">
                <a16:creationId xmlns:a16="http://schemas.microsoft.com/office/drawing/2014/main" id="{9E3CED4D-75E9-C096-8F1B-D18B345D9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D3AC211-CFE2-CB6A-01C2-EC9D3A751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452" y="0"/>
            <a:ext cx="784548" cy="7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66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imeoVTI">
  <a:themeElements>
    <a:clrScheme name="Mimeo">
      <a:dk1>
        <a:sysClr val="windowText" lastClr="000000"/>
      </a:dk1>
      <a:lt1>
        <a:sysClr val="window" lastClr="FFFFFF"/>
      </a:lt1>
      <a:dk2>
        <a:srgbClr val="011E31"/>
      </a:dk2>
      <a:lt2>
        <a:srgbClr val="FDF3E6"/>
      </a:lt2>
      <a:accent1>
        <a:srgbClr val="005E9E"/>
      </a:accent1>
      <a:accent2>
        <a:srgbClr val="38998D"/>
      </a:accent2>
      <a:accent3>
        <a:srgbClr val="EF8683"/>
      </a:accent3>
      <a:accent4>
        <a:srgbClr val="F04E28"/>
      </a:accent4>
      <a:accent5>
        <a:srgbClr val="DD992C"/>
      </a:accent5>
      <a:accent6>
        <a:srgbClr val="136E65"/>
      </a:accent6>
      <a:hlink>
        <a:srgbClr val="38998D"/>
      </a:hlink>
      <a:folHlink>
        <a:srgbClr val="F04E28"/>
      </a:folHlink>
    </a:clrScheme>
    <a:fontScheme name="Custom 3">
      <a:majorFont>
        <a:latin typeface="Elephant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meoVTI" id="{63E3BFD8-7F9C-46D1-A4F3-04054403C108}" vid="{C505C190-EE38-45FD-8294-6454536D04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2587</TotalTime>
  <Words>1165</Words>
  <Application>Microsoft Office PowerPoint</Application>
  <PresentationFormat>Widescreen</PresentationFormat>
  <Paragraphs>163</Paragraphs>
  <Slides>39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Aptos Black</vt:lpstr>
      <vt:lpstr>Arial</vt:lpstr>
      <vt:lpstr>Cambria Math</vt:lpstr>
      <vt:lpstr>Elephant</vt:lpstr>
      <vt:lpstr>Times New Roman</vt:lpstr>
      <vt:lpstr>Univers Condensed</vt:lpstr>
      <vt:lpstr>MimeoVTI</vt:lpstr>
      <vt:lpstr>Developing a desktop application to optimise neural networks</vt:lpstr>
      <vt:lpstr>What is a Neural Network?</vt:lpstr>
      <vt:lpstr>What is a Neural Network?</vt:lpstr>
      <vt:lpstr>What is a Neural Network?</vt:lpstr>
      <vt:lpstr>What is a Neural Network?</vt:lpstr>
      <vt:lpstr>What is a Neural Network?</vt:lpstr>
      <vt:lpstr>Determining the best fit to the data</vt:lpstr>
      <vt:lpstr>Comparing neural networks with regression</vt:lpstr>
      <vt:lpstr>Comparing neural networks with regression</vt:lpstr>
      <vt:lpstr>Comparing neural networks with regression</vt:lpstr>
      <vt:lpstr>Creating the desktop application</vt:lpstr>
      <vt:lpstr>Writing and compiling the program</vt:lpstr>
      <vt:lpstr>The Graphical User Interface (GUI)</vt:lpstr>
      <vt:lpstr>PowerPoint Presentation</vt:lpstr>
      <vt:lpstr>PowerPoint Presentation</vt:lpstr>
      <vt:lpstr>PowerPoint Presentation</vt:lpstr>
      <vt:lpstr>PowerPoint Presentation</vt:lpstr>
      <vt:lpstr>Results and conclusions</vt:lpstr>
      <vt:lpstr>Financial data (from YFinance)</vt:lpstr>
      <vt:lpstr>PowerPoint Presentation</vt:lpstr>
      <vt:lpstr>Financial data</vt:lpstr>
      <vt:lpstr>Financial data</vt:lpstr>
      <vt:lpstr>Financial data</vt:lpstr>
      <vt:lpstr>Financial data</vt:lpstr>
      <vt:lpstr>Global Temperature rise data (from the Met Office)</vt:lpstr>
      <vt:lpstr>PowerPoint Presentation</vt:lpstr>
      <vt:lpstr>Temperature rise data</vt:lpstr>
      <vt:lpstr>Temperature rise data</vt:lpstr>
      <vt:lpstr>Temperature rise data</vt:lpstr>
      <vt:lpstr>Temperature rise data</vt:lpstr>
      <vt:lpstr>Stellar light curve data  (from NASA)</vt:lpstr>
      <vt:lpstr>PowerPoint Presentation</vt:lpstr>
      <vt:lpstr>Stellar light curve data</vt:lpstr>
      <vt:lpstr>Stellar light curve data</vt:lpstr>
      <vt:lpstr>Stellar light curve data</vt:lpstr>
      <vt:lpstr>Stellar light curve data</vt:lpstr>
      <vt:lpstr>Future development</vt:lpstr>
      <vt:lpstr>Future development</vt:lpstr>
      <vt:lpstr>Thank you for listening.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Ray, John (Student)</dc:creator>
  <cp:lastModifiedBy>Ray, John (Student)</cp:lastModifiedBy>
  <cp:revision>14</cp:revision>
  <dcterms:created xsi:type="dcterms:W3CDTF">2025-12-10T23:21:03Z</dcterms:created>
  <dcterms:modified xsi:type="dcterms:W3CDTF">2026-05-31T22:34:57Z</dcterms:modified>
</cp:coreProperties>
</file>